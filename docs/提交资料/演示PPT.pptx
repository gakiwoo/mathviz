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mp4" ContentType="video/mp4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70" r:id="rId7"/>
    <p:sldId id="259" r:id="rId8"/>
    <p:sldId id="260" r:id="rId9"/>
    <p:sldId id="261" r:id="rId10"/>
    <p:sldId id="262" r:id="rId11"/>
    <p:sldId id="268" r:id="rId12"/>
    <p:sldId id="269" r:id="rId13"/>
    <p:sldId id="263" r:id="rId14"/>
    <p:sldId id="264" r:id="rId15"/>
    <p:sldId id="265" r:id="rId16"/>
  </p:sldIdLst>
  <p:sldSz cx="12192000" cy="6858000"/>
  <p:notesSz cx="6858000" cy="9144000"/>
  <p:embeddedFontLst>
    <p:embeddedFont>
      <p:font typeface="方正仿宋_GB18030" panose="02000000000000000000" charset="-122"/>
      <p:regular r:id="rId20"/>
    </p:embeddedFont>
  </p:embeddedFontLst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0" Type="http://schemas.openxmlformats.org/officeDocument/2006/relationships/font" Target="fonts/font1.fntdata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图片与标题">
    <p:spTree>
      <p:nvGrpSpPr>
        <p:cNvPr id="1" name=""/>
        <p:cNvGrpSpPr/>
        <p:nvPr/>
      </p:nvGrpSpPr>
      <p:grpSpPr/>
      <p:sp>
        <p:nvSpPr>
          <p:cNvPr id="2" name="标题 1"/>
          <p:cNvSpPr/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/>
        </p:txBody>
      </p:sp>
      <p:sp>
        <p:nvSpPr>
          <p:cNvPr id="3" name="图片占位符 2"/>
          <p:cNvSpPr/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/>
        </p:txBody>
      </p:sp>
      <p:sp>
        <p:nvSpPr>
          <p:cNvPr id="4" name="文本占位符 3"/>
          <p:cNvSpPr/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/>
        </p:txBody>
      </p:sp>
      <p:sp>
        <p:nvSpPr>
          <p:cNvPr id="5" name="日期占位符 4"/>
          <p:cNvSpPr/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6" name="页脚占位符 5"/>
          <p:cNvSpPr/>
          <p:nvPr>
            <p:ph type="ftr" idx="11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内容与标题">
    <p:spTree>
      <p:nvGrpSpPr>
        <p:cNvPr id="1" name=""/>
        <p:cNvGrpSpPr/>
        <p:nvPr/>
      </p:nvGrpSpPr>
      <p:grpSpPr/>
      <p:sp>
        <p:nvSpPr>
          <p:cNvPr id="2" name="标题 1"/>
          <p:cNvSpPr/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/>
        </p:txBody>
      </p:sp>
      <p:sp>
        <p:nvSpPr>
          <p:cNvPr id="4" name="文本占位符 3"/>
          <p:cNvSpPr/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/>
        </p:txBody>
      </p:sp>
      <p:sp>
        <p:nvSpPr>
          <p:cNvPr id="5" name="日期占位符 4"/>
          <p:cNvSpPr/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6" name="页脚占位符 5"/>
          <p:cNvSpPr/>
          <p:nvPr>
            <p:ph type="ftr" idx="11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/>
      <p:sp>
        <p:nvSpPr>
          <p:cNvPr id="2" name="日期占位符 1"/>
          <p:cNvSpPr/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3" name="页脚占位符 2"/>
          <p:cNvSpPr/>
          <p:nvPr>
            <p:ph type="ftr" idx="11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仅标题">
    <p:spTree>
      <p:nvGrpSpPr>
        <p:cNvPr id="1" name=""/>
        <p:cNvGrpSpPr/>
        <p:nvPr/>
      </p:nvGrpSpPr>
      <p:grpSpPr/>
      <p:sp>
        <p:nvSpPr>
          <p:cNvPr id="2" name="标题 1"/>
          <p:cNvSpPr/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日期占位符 2"/>
          <p:cNvSpPr/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4" name="页脚占位符 3"/>
          <p:cNvSpPr/>
          <p:nvPr>
            <p:ph type="ftr" idx="11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比较">
    <p:spTree>
      <p:nvGrpSpPr>
        <p:cNvPr id="1" name=""/>
        <p:cNvGrpSpPr/>
        <p:nvPr/>
      </p:nvGrpSpPr>
      <p:grpSpPr/>
      <p:sp>
        <p:nvSpPr>
          <p:cNvPr id="2" name="标题 1"/>
          <p:cNvSpPr/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/>
        </p:txBody>
      </p:sp>
      <p:sp>
        <p:nvSpPr>
          <p:cNvPr id="3" name="文本占位符 2"/>
          <p:cNvSpPr/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/>
        </p:txBody>
      </p:sp>
      <p:sp>
        <p:nvSpPr>
          <p:cNvPr id="5" name="文本占位符 4"/>
          <p:cNvSpPr/>
          <p:nvPr>
            <p:ph type="body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/>
        </p:txBody>
      </p:sp>
      <p:sp>
        <p:nvSpPr>
          <p:cNvPr id="7" name="日期占位符 6"/>
          <p:cNvSpPr/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8" name="页脚占位符 7"/>
          <p:cNvSpPr/>
          <p:nvPr>
            <p:ph type="ftr" idx="11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两栏内容">
    <p:spTree>
      <p:nvGrpSpPr>
        <p:cNvPr id="1" name=""/>
        <p:cNvGrpSpPr/>
        <p:nvPr/>
      </p:nvGrpSpPr>
      <p:grpSpPr/>
      <p:sp>
        <p:nvSpPr>
          <p:cNvPr id="2" name="标题 1"/>
          <p:cNvSpPr/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5" name="日期占位符 4"/>
          <p:cNvSpPr/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6" name="页脚占位符 5"/>
          <p:cNvSpPr/>
          <p:nvPr>
            <p:ph type="ftr" idx="11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节标题">
    <p:spTree>
      <p:nvGrpSpPr>
        <p:cNvPr id="1" name=""/>
        <p:cNvGrpSpPr/>
        <p:nvPr/>
      </p:nvGrpSpPr>
      <p:grpSpPr/>
      <p:sp>
        <p:nvSpPr>
          <p:cNvPr id="2" name="标题 1"/>
          <p:cNvSpPr/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buNone/>
              <a:defRPr sz="6000"/>
            </a:lvl1pPr>
          </a:lstStyle>
          <a:p/>
        </p:txBody>
      </p:sp>
      <p:sp>
        <p:nvSpPr>
          <p:cNvPr id="3" name="文本占位符 2"/>
          <p:cNvSpPr/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/>
        </p:txBody>
      </p:sp>
      <p:sp>
        <p:nvSpPr>
          <p:cNvPr id="4" name="日期占位符 3"/>
          <p:cNvSpPr/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页脚占位符 4"/>
          <p:cNvSpPr/>
          <p:nvPr>
            <p:ph type="ftr" idx="11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/>
      <p:sp>
        <p:nvSpPr>
          <p:cNvPr id="2" name="标题 1"/>
          <p:cNvSpPr/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4" name="日期占位符 3"/>
          <p:cNvSpPr/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页脚占位符 4"/>
          <p:cNvSpPr/>
          <p:nvPr>
            <p:ph type="ftr" idx="11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竖排标题与文本">
    <p:spTree>
      <p:nvGrpSpPr>
        <p:cNvPr id="1" name=""/>
        <p:cNvGrpSpPr/>
        <p:nvPr/>
      </p:nvGrpSpPr>
      <p:grpSpPr/>
      <p:sp>
        <p:nvSpPr>
          <p:cNvPr id="2" name="竖排标题 1"/>
          <p:cNvSpPr/>
          <p:nvPr>
            <p:ph type="title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/>
        </p:txBody>
      </p:sp>
      <p:sp>
        <p:nvSpPr>
          <p:cNvPr id="3" name="竖排文字占位符 2"/>
          <p:cNvSpPr/>
          <p:nvPr>
            <p:ph type="body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/>
        </p:txBody>
      </p:sp>
      <p:sp>
        <p:nvSpPr>
          <p:cNvPr id="4" name="日期占位符 3"/>
          <p:cNvSpPr/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页脚占位符 4"/>
          <p:cNvSpPr/>
          <p:nvPr>
            <p:ph type="ftr" idx="11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标题和竖排文字">
    <p:spTree>
      <p:nvGrpSpPr>
        <p:cNvPr id="1" name=""/>
        <p:cNvGrpSpPr/>
        <p:nvPr/>
      </p:nvGrpSpPr>
      <p:grpSpPr/>
      <p:sp>
        <p:nvSpPr>
          <p:cNvPr id="2" name="标题 1"/>
          <p:cNvSpPr/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竖排文字占位符 2"/>
          <p:cNvSpPr/>
          <p:nvPr>
            <p:ph type="body" idx="1"/>
          </p:nvPr>
        </p:nvSpPr>
        <p:spPr/>
        <p:txBody>
          <a:bodyPr vert="eaVert"/>
          <a:lstStyle/>
          <a:p/>
        </p:txBody>
      </p:sp>
      <p:sp>
        <p:nvSpPr>
          <p:cNvPr id="4" name="日期占位符 3"/>
          <p:cNvSpPr/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页脚占位符 4"/>
          <p:cNvSpPr/>
          <p:nvPr>
            <p:ph type="ftr" idx="11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/>
      <p:sp>
        <p:nvSpPr>
          <p:cNvPr id="4" name="日期占位符 3"/>
          <p:cNvSpPr/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页脚占位符 4"/>
          <p:cNvSpPr/>
          <p:nvPr>
            <p:ph type="ftr" idx="11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图片与标题">
    <p:spTree>
      <p:nvGrpSpPr>
        <p:cNvPr id="1" name=""/>
        <p:cNvGrpSpPr/>
        <p:nvPr/>
      </p:nvGrpSpPr>
      <p:grpSpPr/>
      <p:sp>
        <p:nvSpPr>
          <p:cNvPr id="2" name="标题 1"/>
          <p:cNvSpPr/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/>
        </p:txBody>
      </p:sp>
      <p:sp>
        <p:nvSpPr>
          <p:cNvPr id="3" name="图片占位符 2"/>
          <p:cNvSpPr/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/>
        </p:txBody>
      </p:sp>
      <p:sp>
        <p:nvSpPr>
          <p:cNvPr id="4" name="文本占位符 3"/>
          <p:cNvSpPr/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/>
        </p:txBody>
      </p:sp>
      <p:sp>
        <p:nvSpPr>
          <p:cNvPr id="5" name="日期占位符 4"/>
          <p:cNvSpPr/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6" name="页脚占位符 5"/>
          <p:cNvSpPr/>
          <p:nvPr>
            <p:ph type="ftr" idx="11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内容与标题">
    <p:spTree>
      <p:nvGrpSpPr>
        <p:cNvPr id="1" name=""/>
        <p:cNvGrpSpPr/>
        <p:nvPr/>
      </p:nvGrpSpPr>
      <p:grpSpPr/>
      <p:sp>
        <p:nvSpPr>
          <p:cNvPr id="2" name="标题 1"/>
          <p:cNvSpPr/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/>
        </p:txBody>
      </p:sp>
      <p:sp>
        <p:nvSpPr>
          <p:cNvPr id="4" name="文本占位符 3"/>
          <p:cNvSpPr/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/>
        </p:txBody>
      </p:sp>
      <p:sp>
        <p:nvSpPr>
          <p:cNvPr id="5" name="日期占位符 4"/>
          <p:cNvSpPr/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6" name="页脚占位符 5"/>
          <p:cNvSpPr/>
          <p:nvPr>
            <p:ph type="ftr" idx="11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/>
      <p:sp>
        <p:nvSpPr>
          <p:cNvPr id="2" name="日期占位符 1"/>
          <p:cNvSpPr/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3" name="页脚占位符 2"/>
          <p:cNvSpPr/>
          <p:nvPr>
            <p:ph type="ftr" idx="11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仅标题">
    <p:spTree>
      <p:nvGrpSpPr>
        <p:cNvPr id="1" name=""/>
        <p:cNvGrpSpPr/>
        <p:nvPr/>
      </p:nvGrpSpPr>
      <p:grpSpPr/>
      <p:sp>
        <p:nvSpPr>
          <p:cNvPr id="2" name="标题 1"/>
          <p:cNvSpPr/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日期占位符 2"/>
          <p:cNvSpPr/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4" name="页脚占位符 3"/>
          <p:cNvSpPr/>
          <p:nvPr>
            <p:ph type="ftr" idx="11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比较">
    <p:spTree>
      <p:nvGrpSpPr>
        <p:cNvPr id="1" name=""/>
        <p:cNvGrpSpPr/>
        <p:nvPr/>
      </p:nvGrpSpPr>
      <p:grpSpPr/>
      <p:sp>
        <p:nvSpPr>
          <p:cNvPr id="2" name="标题 1"/>
          <p:cNvSpPr/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/>
        </p:txBody>
      </p:sp>
      <p:sp>
        <p:nvSpPr>
          <p:cNvPr id="3" name="文本占位符 2"/>
          <p:cNvSpPr/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/>
        </p:txBody>
      </p:sp>
      <p:sp>
        <p:nvSpPr>
          <p:cNvPr id="5" name="文本占位符 4"/>
          <p:cNvSpPr/>
          <p:nvPr>
            <p:ph type="body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/>
        </p:txBody>
      </p:sp>
      <p:sp>
        <p:nvSpPr>
          <p:cNvPr id="7" name="日期占位符 6"/>
          <p:cNvSpPr/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8" name="页脚占位符 7"/>
          <p:cNvSpPr/>
          <p:nvPr>
            <p:ph type="ftr" idx="11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两栏内容">
    <p:spTree>
      <p:nvGrpSpPr>
        <p:cNvPr id="1" name=""/>
        <p:cNvGrpSpPr/>
        <p:nvPr/>
      </p:nvGrpSpPr>
      <p:grpSpPr/>
      <p:sp>
        <p:nvSpPr>
          <p:cNvPr id="2" name="标题 1"/>
          <p:cNvSpPr/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5" name="日期占位符 4"/>
          <p:cNvSpPr/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6" name="页脚占位符 5"/>
          <p:cNvSpPr/>
          <p:nvPr>
            <p:ph type="ftr" idx="11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节标题">
    <p:spTree>
      <p:nvGrpSpPr>
        <p:cNvPr id="1" name=""/>
        <p:cNvGrpSpPr/>
        <p:nvPr/>
      </p:nvGrpSpPr>
      <p:grpSpPr/>
      <p:sp>
        <p:nvSpPr>
          <p:cNvPr id="2" name="标题 1"/>
          <p:cNvSpPr/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buNone/>
              <a:defRPr sz="6000"/>
            </a:lvl1pPr>
          </a:lstStyle>
          <a:p/>
        </p:txBody>
      </p:sp>
      <p:sp>
        <p:nvSpPr>
          <p:cNvPr id="3" name="文本占位符 2"/>
          <p:cNvSpPr/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/>
        </p:txBody>
      </p:sp>
      <p:sp>
        <p:nvSpPr>
          <p:cNvPr id="4" name="日期占位符 3"/>
          <p:cNvSpPr/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页脚占位符 4"/>
          <p:cNvSpPr/>
          <p:nvPr>
            <p:ph type="ftr" idx="11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/>
      <p:sp>
        <p:nvSpPr>
          <p:cNvPr id="2" name="标题 1"/>
          <p:cNvSpPr/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4" name="日期占位符 3"/>
          <p:cNvSpPr/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页脚占位符 4"/>
          <p:cNvSpPr/>
          <p:nvPr>
            <p:ph type="ftr" idx="11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竖排标题与文本">
    <p:spTree>
      <p:nvGrpSpPr>
        <p:cNvPr id="1" name=""/>
        <p:cNvGrpSpPr/>
        <p:nvPr/>
      </p:nvGrpSpPr>
      <p:grpSpPr/>
      <p:sp>
        <p:nvSpPr>
          <p:cNvPr id="2" name="竖排标题 1"/>
          <p:cNvSpPr/>
          <p:nvPr>
            <p:ph type="title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/>
        </p:txBody>
      </p:sp>
      <p:sp>
        <p:nvSpPr>
          <p:cNvPr id="3" name="竖排文字占位符 2"/>
          <p:cNvSpPr/>
          <p:nvPr>
            <p:ph type="body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/>
        </p:txBody>
      </p:sp>
      <p:sp>
        <p:nvSpPr>
          <p:cNvPr id="4" name="日期占位符 3"/>
          <p:cNvSpPr/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页脚占位符 4"/>
          <p:cNvSpPr/>
          <p:nvPr>
            <p:ph type="ftr" idx="11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标题和竖排文字">
    <p:spTree>
      <p:nvGrpSpPr>
        <p:cNvPr id="1" name=""/>
        <p:cNvGrpSpPr/>
        <p:nvPr/>
      </p:nvGrpSpPr>
      <p:grpSpPr/>
      <p:sp>
        <p:nvSpPr>
          <p:cNvPr id="2" name="标题 1"/>
          <p:cNvSpPr/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竖排文字占位符 2"/>
          <p:cNvSpPr/>
          <p:nvPr>
            <p:ph type="body" idx="1"/>
          </p:nvPr>
        </p:nvSpPr>
        <p:spPr/>
        <p:txBody>
          <a:bodyPr vert="eaVert"/>
          <a:lstStyle/>
          <a:p/>
        </p:txBody>
      </p:sp>
      <p:sp>
        <p:nvSpPr>
          <p:cNvPr id="4" name="日期占位符 3"/>
          <p:cNvSpPr/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页脚占位符 4"/>
          <p:cNvSpPr/>
          <p:nvPr>
            <p:ph type="ftr" idx="11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/>
      <p:sp>
        <p:nvSpPr>
          <p:cNvPr id="4" name="日期占位符 3"/>
          <p:cNvSpPr/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页脚占位符 4"/>
          <p:cNvSpPr/>
          <p:nvPr>
            <p:ph type="ftr" idx="11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3" Type="http://schemas.openxmlformats.org/officeDocument/2006/relationships/theme" Target="../theme/theme1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0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标题占位符 1"/>
          <p:cNvSpPr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/>
        </p:txBody>
      </p:sp>
      <p:sp>
        <p:nvSpPr>
          <p:cNvPr id="3" name="文本占位符 2"/>
          <p:cNvSpPr/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/>
        </p:txBody>
      </p:sp>
      <p:sp>
        <p:nvSpPr>
          <p:cNvPr id="4" name="日期占位符 3"/>
          <p:cNvSpPr/>
          <p:nvPr>
            <p:ph type="dt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页脚占位符 4"/>
          <p:cNvSpPr/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灯片编号占位符 5"/>
          <p:cNvSpPr/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7" name="标题占位符 1"/>
          <p:cNvSpPr/>
          <p:nvPr>
            <p:ph type="title" idx="10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/>
        </p:txBody>
      </p:sp>
      <p:sp>
        <p:nvSpPr>
          <p:cNvPr id="8" name="文本占位符 2"/>
          <p:cNvSpPr/>
          <p:nvPr>
            <p:ph type="body" idx="1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/>
        </p:txBody>
      </p:sp>
      <p:sp>
        <p:nvSpPr>
          <p:cNvPr id="9" name="日期占位符 3"/>
          <p:cNvSpPr/>
          <p:nvPr>
            <p:ph type="dt" idx="1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10" name="页脚占位符 4"/>
          <p:cNvSpPr/>
          <p:nvPr>
            <p:ph type="ftr" idx="1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11" name="灯片编号占位符 5"/>
          <p:cNvSpPr/>
          <p:nvPr>
            <p:ph type="sldNum" idx="1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2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2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2.xml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2.xml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2.xml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11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11.xml"/><Relationship Id="rId2" Type="http://schemas.openxmlformats.org/officeDocument/2006/relationships/image" Target="../media/image5.png"/><Relationship Id="rId1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0.xml"/><Relationship Id="rId6" Type="http://schemas.openxmlformats.org/officeDocument/2006/relationships/slideLayout" Target="../slideLayouts/slideLayout11.xml"/><Relationship Id="rId5" Type="http://schemas.openxmlformats.org/officeDocument/2006/relationships/image" Target="../media/image6.png"/><Relationship Id="rId4" Type="http://schemas.openxmlformats.org/officeDocument/2006/relationships/tags" Target="../tags/tag1.xml"/><Relationship Id="rId3" Type="http://schemas.microsoft.com/office/2007/relationships/media" Target="../media/media1.mp4"/><Relationship Id="rId2" Type="http://schemas.openxmlformats.org/officeDocument/2006/relationships/video" Target="../media/media1.mp4"/><Relationship Id="rId1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2.xml"/><Relationship Id="rId1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2.xml"/><Relationship Id="rId6" Type="http://schemas.openxmlformats.org/officeDocument/2006/relationships/slideLayout" Target="../slideLayouts/slideLayout22.xml"/><Relationship Id="rId5" Type="http://schemas.openxmlformats.org/officeDocument/2006/relationships/image" Target="../media/image6.png"/><Relationship Id="rId4" Type="http://schemas.openxmlformats.org/officeDocument/2006/relationships/tags" Target="../tags/tag2.xml"/><Relationship Id="rId3" Type="http://schemas.microsoft.com/office/2007/relationships/media" Target="../media/media2.mp4"/><Relationship Id="rId2" Type="http://schemas.openxmlformats.org/officeDocument/2006/relationships/video" Target="../media/media2.mp4"/><Relationship Id="rId1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2.xml"/><Relationship Id="rId1" Type="http://schemas.openxmlformats.org/officeDocument/2006/relationships/image" Target="../media/image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3" name="五边形 2"/>
          <p:cNvSpPr>
            <a:spLocks noGrp="1"/>
          </p:cNvSpPr>
          <p:nvPr/>
        </p:nvSpPr>
        <p:spPr>
          <a:xfrm rot="10800000">
            <a:off x="1663065" y="1995170"/>
            <a:ext cx="10220325" cy="1452880"/>
          </a:xfrm>
          <a:prstGeom prst="homePlate">
            <a:avLst>
              <a:gd name="adj" fmla="val 35482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</a:p>
        </p:txBody>
      </p:sp>
      <p:sp>
        <p:nvSpPr>
          <p:cNvPr id="89" name="五边形 88"/>
          <p:cNvSpPr>
            <a:spLocks noGrp="1"/>
          </p:cNvSpPr>
          <p:nvPr/>
        </p:nvSpPr>
        <p:spPr>
          <a:xfrm rot="10800000">
            <a:off x="11969115" y="1995170"/>
            <a:ext cx="222885" cy="1452880"/>
          </a:xfrm>
          <a:prstGeom prst="homePlate">
            <a:avLst>
              <a:gd name="adj" fmla="val 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</a:p>
        </p:txBody>
      </p:sp>
      <p:sp>
        <p:nvSpPr>
          <p:cNvPr id="8" name="直接连接符 7"/>
          <p:cNvSpPr>
            <a:spLocks noGrp="1"/>
          </p:cNvSpPr>
          <p:nvPr/>
        </p:nvSpPr>
        <p:spPr>
          <a:xfrm>
            <a:off x="-9525" y="1327150"/>
            <a:ext cx="4081145" cy="0"/>
          </a:xfrm>
          <a:prstGeom prst="line">
            <a:avLst/>
          </a:prstGeom>
          <a:ln w="25400">
            <a:solidFill>
              <a:srgbClr val="3C85C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" name="五边形 8"/>
          <p:cNvSpPr>
            <a:spLocks noGrp="1"/>
          </p:cNvSpPr>
          <p:nvPr/>
        </p:nvSpPr>
        <p:spPr>
          <a:xfrm>
            <a:off x="0" y="969010"/>
            <a:ext cx="325755" cy="358140"/>
          </a:xfrm>
          <a:prstGeom prst="homePlate">
            <a:avLst>
              <a:gd name="adj" fmla="val 28927"/>
            </a:avLst>
          </a:prstGeom>
          <a:solidFill>
            <a:srgbClr val="3C85C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</a:p>
        </p:txBody>
      </p:sp>
      <p:sp>
        <p:nvSpPr>
          <p:cNvPr id="90" name="矩形 89"/>
          <p:cNvSpPr>
            <a:spLocks noGrp="1"/>
          </p:cNvSpPr>
          <p:nvPr/>
        </p:nvSpPr>
        <p:spPr>
          <a:xfrm>
            <a:off x="342900" y="914400"/>
            <a:ext cx="6096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650" b="1">
                <a:solidFill>
                  <a:srgbClr val="FFFFFF"/>
                </a:solidFill>
                <a:latin typeface="KaiTi"/>
                <a:ea typeface="KaiTi"/>
                <a:cs typeface="KaiTi"/>
              </a:defRPr>
            </a:pPr>
            <a:r>
              <a:rPr lang="zh-CN" altLang="en-US" spc="100" dirty="0">
                <a:solidFill>
                  <a:schemeClr val="bg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创</a:t>
            </a:r>
            <a:r>
              <a:rPr lang="en-US" altLang="zh-CN" spc="100" dirty="0">
                <a:solidFill>
                  <a:schemeClr val="bg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AI</a:t>
            </a:r>
            <a:r>
              <a:rPr lang="zh-CN" altLang="en-US" spc="100" dirty="0">
                <a:solidFill>
                  <a:schemeClr val="bg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案例类别</a:t>
            </a:r>
            <a:r>
              <a:rPr lang="en-US" altLang="zh-CN" spc="100" dirty="0">
                <a:solidFill>
                  <a:schemeClr val="bg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:</a:t>
            </a:r>
            <a:r>
              <a:rPr lang="zh-CN" altLang="en-US" spc="100" dirty="0">
                <a:solidFill>
                  <a:schemeClr val="bg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教育智能体</a:t>
            </a:r>
            <a:r>
              <a:rPr lang="en-US" altLang="zh-CN" spc="100" dirty="0">
                <a:solidFill>
                  <a:schemeClr val="bg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/</a:t>
            </a:r>
            <a:r>
              <a:rPr lang="zh-CN" altLang="en-US" spc="100" dirty="0">
                <a:solidFill>
                  <a:schemeClr val="bg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智能信息系统</a:t>
            </a:r>
            <a:r>
              <a:rPr lang="en-US" altLang="zh-CN" spc="100" dirty="0">
                <a:solidFill>
                  <a:schemeClr val="bg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/</a:t>
            </a:r>
            <a:r>
              <a:rPr lang="zh-CN" altLang="en-US" spc="100" dirty="0">
                <a:solidFill>
                  <a:schemeClr val="bg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人工智能学习工具</a:t>
            </a:r>
            <a:endParaRPr sz="1650" b="1">
              <a:solidFill>
                <a:srgbClr val="FFFFFF"/>
              </a:solidFill>
              <a:latin typeface="KaiTi"/>
              <a:ea typeface="KaiTi"/>
              <a:cs typeface="KaiTi"/>
            </a:endParaRPr>
          </a:p>
        </p:txBody>
      </p:sp>
      <p:sp>
        <p:nvSpPr>
          <p:cNvPr id="91" name="矩形 90"/>
          <p:cNvSpPr>
            <a:spLocks noGrp="1"/>
          </p:cNvSpPr>
          <p:nvPr/>
        </p:nvSpPr>
        <p:spPr>
          <a:xfrm>
            <a:off x="2238375" y="2343150"/>
            <a:ext cx="8096250" cy="1200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3150" b="1">
                <a:solidFill>
                  <a:srgbClr val="FFFFFF"/>
                </a:solidFill>
                <a:latin typeface="KaiTi"/>
                <a:ea typeface="KaiTi"/>
                <a:cs typeface="KaiTi"/>
              </a:defRPr>
            </a:pPr>
            <a:r>
              <a:rPr sz="3150" b="1">
                <a:solidFill>
                  <a:srgbClr val="FFFFFF"/>
                </a:solidFill>
                <a:latin typeface="KaiTi"/>
                <a:ea typeface="KaiTi"/>
                <a:cs typeface="KaiTi"/>
              </a:rPr>
              <a:t>Math-To-Manim (M2)</a:t>
            </a:r>
            <a:endParaRPr sz="3150" b="1">
              <a:solidFill>
                <a:srgbClr val="FFFFFF"/>
              </a:solidFill>
              <a:latin typeface="KaiTi"/>
              <a:ea typeface="KaiTi"/>
              <a:cs typeface="KaiTi"/>
            </a:endParaRPr>
          </a:p>
          <a:p>
            <a:pPr algn="ctr">
              <a:defRPr sz="3150" b="1">
                <a:solidFill>
                  <a:srgbClr val="FFFFFF"/>
                </a:solidFill>
                <a:latin typeface="KaiTi"/>
                <a:ea typeface="KaiTi"/>
                <a:cs typeface="KaiTi"/>
              </a:defRPr>
            </a:pPr>
            <a:r>
              <a:rPr sz="3150" b="1">
                <a:solidFill>
                  <a:srgbClr val="FFFFFF"/>
                </a:solidFill>
                <a:latin typeface="KaiTi"/>
                <a:ea typeface="KaiTi"/>
                <a:cs typeface="KaiTi"/>
              </a:rPr>
              <a:t>教学动画智能生成系统</a:t>
            </a:r>
            <a:endParaRPr sz="3150" b="1">
              <a:solidFill>
                <a:srgbClr val="FFFFFF"/>
              </a:solidFill>
              <a:latin typeface="KaiTi"/>
              <a:ea typeface="KaiTi"/>
              <a:cs typeface="KaiTi"/>
            </a:endParaRPr>
          </a:p>
        </p:txBody>
      </p:sp>
      <p:sp>
        <p:nvSpPr>
          <p:cNvPr id="92" name="矩形 91"/>
          <p:cNvSpPr>
            <a:spLocks noGrp="1"/>
          </p:cNvSpPr>
          <p:nvPr/>
        </p:nvSpPr>
        <p:spPr>
          <a:xfrm>
            <a:off x="3143250" y="3638550"/>
            <a:ext cx="59055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00" b="0">
                <a:solidFill>
                  <a:srgbClr val="DDEBFF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DDEBFF"/>
                </a:solidFill>
                <a:latin typeface="微软雅黑"/>
                <a:ea typeface="微软雅黑"/>
                <a:cs typeface="微软雅黑"/>
              </a:rPr>
              <a:t>基于大语言模型的中学数学教学动画自动生成</a:t>
            </a:r>
            <a:endParaRPr sz="1800" b="0">
              <a:solidFill>
                <a:srgbClr val="DDEB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3" name="矩形 92"/>
          <p:cNvSpPr>
            <a:spLocks noGrp="1"/>
          </p:cNvSpPr>
          <p:nvPr/>
        </p:nvSpPr>
        <p:spPr>
          <a:xfrm>
            <a:off x="4000500" y="4781550"/>
            <a:ext cx="4381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650" b="1">
                <a:solidFill>
                  <a:srgbClr val="FFFFFF"/>
                </a:solidFill>
                <a:latin typeface="KaiTi"/>
                <a:ea typeface="KaiTi"/>
                <a:cs typeface="KaiTi"/>
              </a:defRPr>
            </a:pPr>
            <a:r>
              <a:rPr sz="1650" b="1">
                <a:solidFill>
                  <a:srgbClr val="FFFFFF"/>
                </a:solidFill>
                <a:latin typeface="KaiTi"/>
                <a:ea typeface="KaiTi"/>
                <a:cs typeface="KaiTi"/>
              </a:rPr>
              <a:t>申报单位：</a:t>
            </a:r>
            <a:r>
              <a:rPr lang="zh-CN" spc="100" dirty="0">
                <a:solidFill>
                  <a:schemeClr val="bg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平远县铁民中学</a:t>
            </a:r>
            <a:endParaRPr sz="1650" b="1">
              <a:solidFill>
                <a:srgbClr val="FFFFFF"/>
              </a:solidFill>
              <a:latin typeface="KaiTi"/>
              <a:ea typeface="KaiTi"/>
              <a:cs typeface="KaiTi"/>
            </a:endParaRPr>
          </a:p>
        </p:txBody>
      </p:sp>
      <p:sp>
        <p:nvSpPr>
          <p:cNvPr id="94" name="矩形 93"/>
          <p:cNvSpPr>
            <a:spLocks noGrp="1"/>
          </p:cNvSpPr>
          <p:nvPr/>
        </p:nvSpPr>
        <p:spPr>
          <a:xfrm>
            <a:off x="4457700" y="5219700"/>
            <a:ext cx="3429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ClrTx/>
              <a:buSzTx/>
              <a:buFontTx/>
            </a:pPr>
            <a:r>
              <a:rPr sz="1650" b="1">
                <a:solidFill>
                  <a:srgbClr val="FFFFFF"/>
                </a:solidFill>
                <a:latin typeface="KaiTi"/>
                <a:ea typeface="KaiTi"/>
                <a:cs typeface="KaiTi"/>
              </a:rPr>
              <a:t>汇报人：</a:t>
            </a:r>
            <a:r>
              <a:rPr lang="zh-CN" sz="1650" spc="100" dirty="0">
                <a:solidFill>
                  <a:schemeClr val="bg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吴雨座</a:t>
            </a:r>
            <a:endParaRPr sz="1650" b="1">
              <a:solidFill>
                <a:srgbClr val="FFFFFF"/>
              </a:solidFill>
              <a:latin typeface="KaiTi"/>
              <a:ea typeface="KaiTi"/>
              <a:cs typeface="KaiT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5" name="五边形 4"/>
          <p:cNvSpPr>
            <a:spLocks noGrp="1"/>
          </p:cNvSpPr>
          <p:nvPr/>
        </p:nvSpPr>
        <p:spPr>
          <a:xfrm>
            <a:off x="250825" y="1392555"/>
            <a:ext cx="2316480" cy="4203700"/>
          </a:xfrm>
          <a:prstGeom prst="homePlate">
            <a:avLst>
              <a:gd name="adj" fmla="val 28927"/>
            </a:avLst>
          </a:prstGeom>
          <a:solidFill>
            <a:srgbClr val="2F559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</a:p>
        </p:txBody>
      </p:sp>
      <p:sp>
        <p:nvSpPr>
          <p:cNvPr id="41" name="五边形 40"/>
          <p:cNvSpPr>
            <a:spLocks noGrp="1"/>
          </p:cNvSpPr>
          <p:nvPr/>
        </p:nvSpPr>
        <p:spPr>
          <a:xfrm rot="10800000">
            <a:off x="0" y="1392555"/>
            <a:ext cx="194310" cy="4203700"/>
          </a:xfrm>
          <a:prstGeom prst="homePlate">
            <a:avLst>
              <a:gd name="adj" fmla="val 0"/>
            </a:avLst>
          </a:prstGeom>
          <a:solidFill>
            <a:srgbClr val="3E56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</a:p>
        </p:txBody>
      </p:sp>
      <p:sp>
        <p:nvSpPr>
          <p:cNvPr id="42" name="矩形 41"/>
          <p:cNvSpPr>
            <a:spLocks noGrp="1"/>
          </p:cNvSpPr>
          <p:nvPr/>
        </p:nvSpPr>
        <p:spPr>
          <a:xfrm>
            <a:off x="10801350" y="6496050"/>
            <a:ext cx="857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7E8CA0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7E8CA0"/>
                </a:solidFill>
                <a:latin typeface="微软雅黑"/>
                <a:ea typeface="微软雅黑"/>
                <a:cs typeface="微软雅黑"/>
              </a:rPr>
              <a:t>02 / 1</a:t>
            </a:r>
            <a:r>
              <a:rPr lang="en-US" sz="900" b="0">
                <a:solidFill>
                  <a:srgbClr val="7E8CA0"/>
                </a:solidFill>
                <a:latin typeface="微软雅黑"/>
                <a:ea typeface="微软雅黑"/>
                <a:cs typeface="微软雅黑"/>
              </a:rPr>
              <a:t>2</a:t>
            </a:r>
            <a:endParaRPr lang="en-US" sz="900" b="0">
              <a:solidFill>
                <a:srgbClr val="7E8CA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3" name="矩形 42"/>
          <p:cNvSpPr>
            <a:spLocks noGrp="1"/>
          </p:cNvSpPr>
          <p:nvPr/>
        </p:nvSpPr>
        <p:spPr>
          <a:xfrm>
            <a:off x="762000" y="2209800"/>
            <a:ext cx="914400" cy="1524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3750" b="1">
                <a:solidFill>
                  <a:srgbClr val="FFFFFF"/>
                </a:solidFill>
                <a:latin typeface="KaiTi"/>
                <a:ea typeface="KaiTi"/>
                <a:cs typeface="KaiTi"/>
              </a:defRPr>
            </a:pPr>
            <a:r>
              <a:rPr sz="3750" b="1">
                <a:solidFill>
                  <a:srgbClr val="FFFFFF"/>
                </a:solidFill>
                <a:latin typeface="KaiTi"/>
                <a:ea typeface="KaiTi"/>
                <a:cs typeface="KaiTi"/>
              </a:rPr>
              <a:t>目</a:t>
            </a:r>
            <a:endParaRPr sz="3750" b="1">
              <a:solidFill>
                <a:srgbClr val="FFFFFF"/>
              </a:solidFill>
              <a:latin typeface="KaiTi"/>
              <a:ea typeface="KaiTi"/>
              <a:cs typeface="KaiTi"/>
            </a:endParaRPr>
          </a:p>
          <a:p>
            <a:pPr algn="ctr">
              <a:defRPr sz="3750" b="1">
                <a:solidFill>
                  <a:srgbClr val="FFFFFF"/>
                </a:solidFill>
                <a:latin typeface="KaiTi"/>
                <a:ea typeface="KaiTi"/>
                <a:cs typeface="KaiTi"/>
              </a:defRPr>
            </a:pPr>
            <a:r>
              <a:rPr sz="3750" b="1">
                <a:solidFill>
                  <a:srgbClr val="FFFFFF"/>
                </a:solidFill>
                <a:latin typeface="KaiTi"/>
                <a:ea typeface="KaiTi"/>
                <a:cs typeface="KaiTi"/>
              </a:rPr>
              <a:t>录</a:t>
            </a:r>
            <a:endParaRPr sz="3750" b="1">
              <a:solidFill>
                <a:srgbClr val="FFFFFF"/>
              </a:solidFill>
              <a:latin typeface="KaiTi"/>
              <a:ea typeface="KaiTi"/>
              <a:cs typeface="KaiTi"/>
            </a:endParaRPr>
          </a:p>
        </p:txBody>
      </p:sp>
      <p:sp>
        <p:nvSpPr>
          <p:cNvPr id="44" name="矩形 43"/>
          <p:cNvSpPr>
            <a:spLocks noGrp="1"/>
          </p:cNvSpPr>
          <p:nvPr/>
        </p:nvSpPr>
        <p:spPr>
          <a:xfrm>
            <a:off x="3314700" y="1409700"/>
            <a:ext cx="723900" cy="552450"/>
          </a:xfrm>
          <a:prstGeom prst="rect">
            <a:avLst/>
          </a:prstGeom>
          <a:solidFill>
            <a:srgbClr val="1F5EA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22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01</a:t>
            </a:r>
            <a:endParaRPr sz="225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5" name="矩形 44"/>
          <p:cNvSpPr>
            <a:spLocks noGrp="1"/>
          </p:cNvSpPr>
          <p:nvPr/>
        </p:nvSpPr>
        <p:spPr>
          <a:xfrm>
            <a:off x="4305300" y="1390650"/>
            <a:ext cx="2095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0B3C8C"/>
                </a:solidFill>
                <a:latin typeface="KaiTi"/>
                <a:ea typeface="KaiTi"/>
                <a:cs typeface="KaiTi"/>
              </a:defRPr>
            </a:pPr>
            <a:r>
              <a:rPr sz="2100" b="1">
                <a:solidFill>
                  <a:srgbClr val="0B3C8C"/>
                </a:solidFill>
                <a:latin typeface="KaiTi"/>
                <a:ea typeface="KaiTi"/>
                <a:cs typeface="KaiTi"/>
              </a:rPr>
              <a:t>建设背景</a:t>
            </a:r>
            <a:endParaRPr sz="2100" b="1">
              <a:solidFill>
                <a:srgbClr val="0B3C8C"/>
              </a:solidFill>
              <a:latin typeface="KaiTi"/>
              <a:ea typeface="KaiTi"/>
              <a:cs typeface="KaiTi"/>
            </a:endParaRPr>
          </a:p>
        </p:txBody>
      </p:sp>
      <p:sp>
        <p:nvSpPr>
          <p:cNvPr id="46" name="矩形 45"/>
          <p:cNvSpPr>
            <a:spLocks noGrp="1"/>
          </p:cNvSpPr>
          <p:nvPr/>
        </p:nvSpPr>
        <p:spPr>
          <a:xfrm>
            <a:off x="4305300" y="1790700"/>
            <a:ext cx="5905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1B2430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教学痛点与技术机遇</a:t>
            </a:r>
            <a:endParaRPr sz="1500" b="0">
              <a:solidFill>
                <a:srgbClr val="1B243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7" name="矩形 46"/>
          <p:cNvSpPr>
            <a:spLocks noGrp="1"/>
          </p:cNvSpPr>
          <p:nvPr/>
        </p:nvSpPr>
        <p:spPr>
          <a:xfrm>
            <a:off x="4305300" y="2171700"/>
            <a:ext cx="5334000" cy="11430"/>
          </a:xfrm>
          <a:prstGeom prst="rect">
            <a:avLst/>
          </a:prstGeom>
          <a:solidFill>
            <a:srgbClr val="C9D8E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矩形 47"/>
          <p:cNvSpPr>
            <a:spLocks noGrp="1"/>
          </p:cNvSpPr>
          <p:nvPr/>
        </p:nvSpPr>
        <p:spPr>
          <a:xfrm>
            <a:off x="3314700" y="2514600"/>
            <a:ext cx="723900" cy="552450"/>
          </a:xfrm>
          <a:prstGeom prst="rect">
            <a:avLst/>
          </a:prstGeom>
          <a:solidFill>
            <a:srgbClr val="0072B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22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02</a:t>
            </a:r>
            <a:endParaRPr sz="225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9" name="矩形 48"/>
          <p:cNvSpPr>
            <a:spLocks noGrp="1"/>
          </p:cNvSpPr>
          <p:nvPr/>
        </p:nvSpPr>
        <p:spPr>
          <a:xfrm>
            <a:off x="4305300" y="2495550"/>
            <a:ext cx="2095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0B3C8C"/>
                </a:solidFill>
                <a:latin typeface="KaiTi"/>
                <a:ea typeface="KaiTi"/>
                <a:cs typeface="KaiTi"/>
              </a:defRPr>
            </a:pPr>
            <a:r>
              <a:rPr sz="2100" b="1">
                <a:solidFill>
                  <a:srgbClr val="0B3C8C"/>
                </a:solidFill>
                <a:latin typeface="KaiTi"/>
                <a:ea typeface="KaiTi"/>
                <a:cs typeface="KaiTi"/>
              </a:rPr>
              <a:t>实现功能</a:t>
            </a:r>
            <a:endParaRPr sz="2100" b="1">
              <a:solidFill>
                <a:srgbClr val="0B3C8C"/>
              </a:solidFill>
              <a:latin typeface="KaiTi"/>
              <a:ea typeface="KaiTi"/>
              <a:cs typeface="KaiTi"/>
            </a:endParaRPr>
          </a:p>
        </p:txBody>
      </p:sp>
      <p:sp>
        <p:nvSpPr>
          <p:cNvPr id="50" name="矩形 49"/>
          <p:cNvSpPr>
            <a:spLocks noGrp="1"/>
          </p:cNvSpPr>
          <p:nvPr/>
        </p:nvSpPr>
        <p:spPr>
          <a:xfrm>
            <a:off x="4305300" y="2895600"/>
            <a:ext cx="5905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1B2430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11阶段AI流水线详解</a:t>
            </a:r>
            <a:endParaRPr sz="1500" b="0">
              <a:solidFill>
                <a:srgbClr val="1B243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1" name="矩形 50"/>
          <p:cNvSpPr>
            <a:spLocks noGrp="1"/>
          </p:cNvSpPr>
          <p:nvPr/>
        </p:nvSpPr>
        <p:spPr>
          <a:xfrm>
            <a:off x="4305300" y="3276600"/>
            <a:ext cx="5334000" cy="11430"/>
          </a:xfrm>
          <a:prstGeom prst="rect">
            <a:avLst/>
          </a:prstGeom>
          <a:solidFill>
            <a:srgbClr val="C9D8E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矩形 51"/>
          <p:cNvSpPr>
            <a:spLocks noGrp="1"/>
          </p:cNvSpPr>
          <p:nvPr/>
        </p:nvSpPr>
        <p:spPr>
          <a:xfrm>
            <a:off x="3314700" y="3619500"/>
            <a:ext cx="723900" cy="552450"/>
          </a:xfrm>
          <a:prstGeom prst="rect">
            <a:avLst/>
          </a:prstGeom>
          <a:solidFill>
            <a:srgbClr val="1F5EA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22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03</a:t>
            </a:r>
            <a:endParaRPr sz="225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3" name="矩形 52"/>
          <p:cNvSpPr>
            <a:spLocks noGrp="1"/>
          </p:cNvSpPr>
          <p:nvPr/>
        </p:nvSpPr>
        <p:spPr>
          <a:xfrm>
            <a:off x="4305300" y="3600450"/>
            <a:ext cx="2095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0B3C8C"/>
                </a:solidFill>
                <a:latin typeface="KaiTi"/>
                <a:ea typeface="KaiTi"/>
                <a:cs typeface="KaiTi"/>
              </a:defRPr>
            </a:pPr>
            <a:r>
              <a:rPr sz="2100" b="1">
                <a:solidFill>
                  <a:srgbClr val="0B3C8C"/>
                </a:solidFill>
                <a:latin typeface="KaiTi"/>
                <a:ea typeface="KaiTi"/>
                <a:cs typeface="KaiTi"/>
              </a:rPr>
              <a:t>应用展示</a:t>
            </a:r>
            <a:endParaRPr sz="2100" b="1">
              <a:solidFill>
                <a:srgbClr val="0B3C8C"/>
              </a:solidFill>
              <a:latin typeface="KaiTi"/>
              <a:ea typeface="KaiTi"/>
              <a:cs typeface="KaiTi"/>
            </a:endParaRPr>
          </a:p>
        </p:txBody>
      </p:sp>
      <p:sp>
        <p:nvSpPr>
          <p:cNvPr id="54" name="矩形 53"/>
          <p:cNvSpPr>
            <a:spLocks noGrp="1"/>
          </p:cNvSpPr>
          <p:nvPr/>
        </p:nvSpPr>
        <p:spPr>
          <a:xfrm>
            <a:off x="4305300" y="4000500"/>
            <a:ext cx="5905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1B2430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教学案例与生成效果</a:t>
            </a:r>
            <a:endParaRPr sz="1500" b="0">
              <a:solidFill>
                <a:srgbClr val="1B243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5" name="矩形 54"/>
          <p:cNvSpPr>
            <a:spLocks noGrp="1"/>
          </p:cNvSpPr>
          <p:nvPr/>
        </p:nvSpPr>
        <p:spPr>
          <a:xfrm>
            <a:off x="4305300" y="4381500"/>
            <a:ext cx="5334000" cy="11430"/>
          </a:xfrm>
          <a:prstGeom prst="rect">
            <a:avLst/>
          </a:prstGeom>
          <a:solidFill>
            <a:srgbClr val="C9D8E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矩形 55"/>
          <p:cNvSpPr>
            <a:spLocks noGrp="1"/>
          </p:cNvSpPr>
          <p:nvPr/>
        </p:nvSpPr>
        <p:spPr>
          <a:xfrm>
            <a:off x="3314700" y="4724400"/>
            <a:ext cx="723900" cy="552450"/>
          </a:xfrm>
          <a:prstGeom prst="rect">
            <a:avLst/>
          </a:prstGeom>
          <a:solidFill>
            <a:srgbClr val="1F5EA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22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04</a:t>
            </a:r>
            <a:endParaRPr sz="225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7" name="矩形 56"/>
          <p:cNvSpPr>
            <a:spLocks noGrp="1"/>
          </p:cNvSpPr>
          <p:nvPr/>
        </p:nvSpPr>
        <p:spPr>
          <a:xfrm>
            <a:off x="4305300" y="4705350"/>
            <a:ext cx="2095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0B3C8C"/>
                </a:solidFill>
                <a:latin typeface="KaiTi"/>
                <a:ea typeface="KaiTi"/>
                <a:cs typeface="KaiTi"/>
              </a:defRPr>
            </a:pPr>
            <a:r>
              <a:rPr sz="2100" b="1">
                <a:solidFill>
                  <a:srgbClr val="0B3C8C"/>
                </a:solidFill>
                <a:latin typeface="KaiTi"/>
                <a:ea typeface="KaiTi"/>
                <a:cs typeface="KaiTi"/>
              </a:rPr>
              <a:t>总结与反思</a:t>
            </a:r>
            <a:endParaRPr sz="2100" b="1">
              <a:solidFill>
                <a:srgbClr val="0B3C8C"/>
              </a:solidFill>
              <a:latin typeface="KaiTi"/>
              <a:ea typeface="KaiTi"/>
              <a:cs typeface="KaiTi"/>
            </a:endParaRPr>
          </a:p>
        </p:txBody>
      </p:sp>
      <p:sp>
        <p:nvSpPr>
          <p:cNvPr id="58" name="矩形 57"/>
          <p:cNvSpPr>
            <a:spLocks noGrp="1"/>
          </p:cNvSpPr>
          <p:nvPr/>
        </p:nvSpPr>
        <p:spPr>
          <a:xfrm>
            <a:off x="4305300" y="5105400"/>
            <a:ext cx="5905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1B2430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创新点与改进方向</a:t>
            </a:r>
            <a:endParaRPr sz="1500" b="0">
              <a:solidFill>
                <a:srgbClr val="1B243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9" name="矩形 58"/>
          <p:cNvSpPr>
            <a:spLocks noGrp="1"/>
          </p:cNvSpPr>
          <p:nvPr/>
        </p:nvSpPr>
        <p:spPr>
          <a:xfrm>
            <a:off x="4305300" y="5486400"/>
            <a:ext cx="5334000" cy="11430"/>
          </a:xfrm>
          <a:prstGeom prst="rect">
            <a:avLst/>
          </a:prstGeom>
          <a:solidFill>
            <a:srgbClr val="C9D8E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5" name="五边形 4"/>
          <p:cNvSpPr>
            <a:spLocks noGrp="1"/>
          </p:cNvSpPr>
          <p:nvPr/>
        </p:nvSpPr>
        <p:spPr>
          <a:xfrm>
            <a:off x="250825" y="1392555"/>
            <a:ext cx="2316480" cy="4203700"/>
          </a:xfrm>
          <a:prstGeom prst="homePlate">
            <a:avLst>
              <a:gd name="adj" fmla="val 28927"/>
            </a:avLst>
          </a:prstGeom>
          <a:solidFill>
            <a:srgbClr val="2F559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</a:p>
        </p:txBody>
      </p:sp>
      <p:sp>
        <p:nvSpPr>
          <p:cNvPr id="41" name="五边形 40"/>
          <p:cNvSpPr>
            <a:spLocks noGrp="1"/>
          </p:cNvSpPr>
          <p:nvPr/>
        </p:nvSpPr>
        <p:spPr>
          <a:xfrm rot="10800000">
            <a:off x="0" y="1392555"/>
            <a:ext cx="194310" cy="4203700"/>
          </a:xfrm>
          <a:prstGeom prst="homePlate">
            <a:avLst>
              <a:gd name="adj" fmla="val 0"/>
            </a:avLst>
          </a:prstGeom>
          <a:solidFill>
            <a:srgbClr val="3E56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</a:p>
        </p:txBody>
      </p:sp>
      <p:sp>
        <p:nvSpPr>
          <p:cNvPr id="72" name="矩形 71"/>
          <p:cNvSpPr>
            <a:spLocks noGrp="1"/>
          </p:cNvSpPr>
          <p:nvPr/>
        </p:nvSpPr>
        <p:spPr>
          <a:xfrm>
            <a:off x="10801350" y="6496050"/>
            <a:ext cx="857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7E8CA0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7E8CA0"/>
                </a:solidFill>
                <a:latin typeface="微软雅黑"/>
                <a:ea typeface="微软雅黑"/>
                <a:cs typeface="微软雅黑"/>
              </a:rPr>
              <a:t>03 / 1</a:t>
            </a:r>
            <a:r>
              <a:rPr lang="en-US" sz="900" b="0">
                <a:solidFill>
                  <a:srgbClr val="7E8CA0"/>
                </a:solidFill>
                <a:latin typeface="微软雅黑"/>
                <a:ea typeface="微软雅黑"/>
                <a:cs typeface="微软雅黑"/>
              </a:rPr>
              <a:t>2</a:t>
            </a:r>
            <a:endParaRPr lang="en-US" sz="900" b="0">
              <a:solidFill>
                <a:srgbClr val="7E8CA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3" name="矩形 72"/>
          <p:cNvSpPr>
            <a:spLocks noGrp="1"/>
          </p:cNvSpPr>
          <p:nvPr/>
        </p:nvSpPr>
        <p:spPr>
          <a:xfrm>
            <a:off x="762000" y="1952625"/>
            <a:ext cx="952500" cy="2286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3150" b="1">
                <a:solidFill>
                  <a:srgbClr val="FFFFFF"/>
                </a:solidFill>
                <a:latin typeface="KaiTi"/>
                <a:ea typeface="KaiTi"/>
                <a:cs typeface="KaiTi"/>
              </a:defRPr>
            </a:pPr>
            <a:r>
              <a:rPr lang="zh-CN" sz="3150" b="1">
                <a:solidFill>
                  <a:srgbClr val="FFFFFF"/>
                </a:solidFill>
                <a:latin typeface="KaiTi"/>
                <a:ea typeface="KaiTi"/>
                <a:cs typeface="KaiTi"/>
              </a:rPr>
              <a:t>建</a:t>
            </a:r>
            <a:endParaRPr lang="zh-CN" sz="3150" b="1">
              <a:solidFill>
                <a:srgbClr val="FFFFFF"/>
              </a:solidFill>
              <a:latin typeface="KaiTi"/>
              <a:ea typeface="KaiTi"/>
              <a:cs typeface="KaiTi"/>
            </a:endParaRPr>
          </a:p>
          <a:p>
            <a:pPr algn="ctr">
              <a:defRPr sz="3150" b="1">
                <a:solidFill>
                  <a:srgbClr val="FFFFFF"/>
                </a:solidFill>
                <a:latin typeface="KaiTi"/>
                <a:ea typeface="KaiTi"/>
                <a:cs typeface="KaiTi"/>
              </a:defRPr>
            </a:pPr>
            <a:r>
              <a:rPr lang="zh-CN" sz="3150" b="1">
                <a:solidFill>
                  <a:srgbClr val="FFFFFF"/>
                </a:solidFill>
                <a:latin typeface="KaiTi"/>
                <a:ea typeface="KaiTi"/>
                <a:cs typeface="KaiTi"/>
              </a:rPr>
              <a:t>设</a:t>
            </a:r>
            <a:endParaRPr lang="zh-CN" sz="3150" b="1">
              <a:solidFill>
                <a:srgbClr val="FFFFFF"/>
              </a:solidFill>
              <a:latin typeface="KaiTi"/>
              <a:ea typeface="KaiTi"/>
              <a:cs typeface="KaiTi"/>
            </a:endParaRPr>
          </a:p>
          <a:p>
            <a:pPr algn="ctr">
              <a:defRPr sz="3150" b="1">
                <a:solidFill>
                  <a:srgbClr val="FFFFFF"/>
                </a:solidFill>
                <a:latin typeface="KaiTi"/>
                <a:ea typeface="KaiTi"/>
                <a:cs typeface="KaiTi"/>
              </a:defRPr>
            </a:pPr>
            <a:r>
              <a:rPr lang="zh-CN" sz="3150" b="1">
                <a:solidFill>
                  <a:srgbClr val="FFFFFF"/>
                </a:solidFill>
                <a:latin typeface="KaiTi"/>
                <a:ea typeface="KaiTi"/>
                <a:cs typeface="KaiTi"/>
              </a:rPr>
              <a:t>背</a:t>
            </a:r>
            <a:endParaRPr lang="zh-CN" sz="3150" b="1">
              <a:solidFill>
                <a:srgbClr val="FFFFFF"/>
              </a:solidFill>
              <a:latin typeface="KaiTi"/>
              <a:ea typeface="KaiTi"/>
              <a:cs typeface="KaiTi"/>
            </a:endParaRPr>
          </a:p>
          <a:p>
            <a:pPr algn="ctr">
              <a:defRPr sz="3150" b="1">
                <a:solidFill>
                  <a:srgbClr val="FFFFFF"/>
                </a:solidFill>
                <a:latin typeface="KaiTi"/>
                <a:ea typeface="KaiTi"/>
                <a:cs typeface="KaiTi"/>
              </a:defRPr>
            </a:pPr>
            <a:r>
              <a:rPr lang="zh-CN" sz="3150" b="1">
                <a:solidFill>
                  <a:srgbClr val="FFFFFF"/>
                </a:solidFill>
                <a:latin typeface="KaiTi"/>
                <a:ea typeface="KaiTi"/>
                <a:cs typeface="KaiTi"/>
              </a:rPr>
              <a:t>景</a:t>
            </a:r>
            <a:endParaRPr lang="zh-CN" sz="3150" b="1">
              <a:solidFill>
                <a:srgbClr val="FFFFFF"/>
              </a:solidFill>
              <a:latin typeface="KaiTi"/>
              <a:ea typeface="KaiTi"/>
              <a:cs typeface="KaiTi"/>
            </a:endParaRPr>
          </a:p>
        </p:txBody>
      </p:sp>
      <p:sp>
        <p:nvSpPr>
          <p:cNvPr id="74" name="矩形 73"/>
          <p:cNvSpPr>
            <a:spLocks noGrp="1"/>
          </p:cNvSpPr>
          <p:nvPr/>
        </p:nvSpPr>
        <p:spPr>
          <a:xfrm>
            <a:off x="4000500" y="1129030"/>
            <a:ext cx="476250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3750" b="1">
                <a:solidFill>
                  <a:srgbClr val="0B3C8C"/>
                </a:solidFill>
                <a:latin typeface="KaiTi"/>
                <a:ea typeface="KaiTi"/>
                <a:cs typeface="KaiTi"/>
              </a:defRPr>
            </a:pPr>
            <a:r>
              <a:rPr lang="zh-CN" sz="3750" b="1">
                <a:solidFill>
                  <a:srgbClr val="0B3C8C"/>
                </a:solidFill>
                <a:latin typeface="KaiTi"/>
                <a:ea typeface="KaiTi"/>
                <a:cs typeface="KaiTi"/>
              </a:rPr>
              <a:t>建设</a:t>
            </a:r>
            <a:r>
              <a:rPr lang="zh-CN" sz="3750" b="1">
                <a:solidFill>
                  <a:srgbClr val="0B3C8C"/>
                </a:solidFill>
                <a:latin typeface="KaiTi"/>
                <a:ea typeface="KaiTi"/>
                <a:cs typeface="KaiTi"/>
              </a:rPr>
              <a:t>背景</a:t>
            </a:r>
            <a:endParaRPr lang="zh-CN" sz="3750" b="1">
              <a:solidFill>
                <a:srgbClr val="0B3C8C"/>
              </a:solidFill>
              <a:latin typeface="KaiTi"/>
              <a:ea typeface="KaiTi"/>
              <a:cs typeface="KaiTi"/>
            </a:endParaRPr>
          </a:p>
        </p:txBody>
      </p:sp>
      <p:sp>
        <p:nvSpPr>
          <p:cNvPr id="78" name="矩形 77"/>
          <p:cNvSpPr>
            <a:spLocks noGrp="1"/>
          </p:cNvSpPr>
          <p:nvPr/>
        </p:nvSpPr>
        <p:spPr>
          <a:xfrm>
            <a:off x="2868930" y="1952625"/>
            <a:ext cx="8474075" cy="30384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50000"/>
              </a:lnSpc>
              <a:defRPr sz="1275" b="0">
                <a:solidFill>
                  <a:srgbClr val="5F6B7A"/>
                </a:solidFill>
                <a:latin typeface="微软雅黑"/>
                <a:ea typeface="微软雅黑"/>
                <a:cs typeface="微软雅黑"/>
              </a:defRPr>
            </a:pPr>
            <a:r>
              <a:rPr lang="zh-CN" altLang="en-US" sz="2400" b="0">
                <a:solidFill>
                  <a:srgbClr val="5F6B7A"/>
                </a:solidFill>
                <a:latin typeface="方正仿宋_GB18030" panose="02000000000000000000" charset="-122"/>
                <a:ea typeface="方正仿宋_GB18030" panose="02000000000000000000" charset="-122"/>
                <a:cs typeface="方正仿宋_GB18030" panose="02000000000000000000" charset="-122"/>
              </a:rPr>
              <a:t>中学数学教学中，许多核心概念具有显著的抽象性和动态性。以勾股定理证明、函数图像变化、立体几何旋转体体积推导等知识点为例，传统的"粉笔+黑板"教学模式难以直观展示数学关系的变化过程，</a:t>
            </a:r>
            <a:r>
              <a:rPr lang="zh-CN" altLang="en-US" sz="2400" b="0">
                <a:solidFill>
                  <a:srgbClr val="FF0000"/>
                </a:solidFill>
                <a:latin typeface="方正仿宋_GB18030" panose="02000000000000000000" charset="-122"/>
                <a:ea typeface="方正仿宋_GB18030" panose="02000000000000000000" charset="-122"/>
                <a:cs typeface="方正仿宋_GB18030" panose="02000000000000000000" charset="-122"/>
              </a:rPr>
              <a:t>学生往往只能通过静态图形和文字描述来想象动态的数学逻辑。</a:t>
            </a:r>
            <a:endParaRPr lang="zh-CN" altLang="en-US" sz="2400" b="0">
              <a:solidFill>
                <a:srgbClr val="FF0000"/>
              </a:solidFill>
              <a:latin typeface="方正仿宋_GB18030" panose="02000000000000000000" charset="-122"/>
              <a:ea typeface="方正仿宋_GB18030" panose="02000000000000000000" charset="-122"/>
              <a:cs typeface="方正仿宋_GB18030" panose="02000000000000000000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5" name="五边形 4"/>
          <p:cNvSpPr>
            <a:spLocks noGrp="1"/>
          </p:cNvSpPr>
          <p:nvPr/>
        </p:nvSpPr>
        <p:spPr>
          <a:xfrm>
            <a:off x="250825" y="1392555"/>
            <a:ext cx="2316480" cy="4203700"/>
          </a:xfrm>
          <a:prstGeom prst="homePlate">
            <a:avLst>
              <a:gd name="adj" fmla="val 28927"/>
            </a:avLst>
          </a:prstGeom>
          <a:solidFill>
            <a:srgbClr val="2F559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</a:p>
        </p:txBody>
      </p:sp>
      <p:sp>
        <p:nvSpPr>
          <p:cNvPr id="41" name="五边形 40"/>
          <p:cNvSpPr>
            <a:spLocks noGrp="1"/>
          </p:cNvSpPr>
          <p:nvPr/>
        </p:nvSpPr>
        <p:spPr>
          <a:xfrm rot="10800000">
            <a:off x="0" y="1392555"/>
            <a:ext cx="194310" cy="4203700"/>
          </a:xfrm>
          <a:prstGeom prst="homePlate">
            <a:avLst>
              <a:gd name="adj" fmla="val 0"/>
            </a:avLst>
          </a:prstGeom>
          <a:solidFill>
            <a:srgbClr val="3E56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</a:p>
        </p:txBody>
      </p:sp>
      <p:sp>
        <p:nvSpPr>
          <p:cNvPr id="72" name="矩形 71"/>
          <p:cNvSpPr>
            <a:spLocks noGrp="1"/>
          </p:cNvSpPr>
          <p:nvPr/>
        </p:nvSpPr>
        <p:spPr>
          <a:xfrm>
            <a:off x="10801350" y="6496050"/>
            <a:ext cx="857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7E8CA0"/>
                </a:solidFill>
                <a:latin typeface="微软雅黑"/>
                <a:ea typeface="微软雅黑"/>
                <a:cs typeface="微软雅黑"/>
              </a:defRPr>
            </a:pPr>
            <a:r>
              <a:rPr lang="en-US" sz="900" b="0">
                <a:solidFill>
                  <a:srgbClr val="7E8CA0"/>
                </a:solidFill>
                <a:latin typeface="微软雅黑"/>
                <a:ea typeface="微软雅黑"/>
                <a:cs typeface="微软雅黑"/>
              </a:rPr>
              <a:t>4</a:t>
            </a:r>
            <a:r>
              <a:rPr sz="900" b="0">
                <a:solidFill>
                  <a:srgbClr val="7E8CA0"/>
                </a:solidFill>
                <a:latin typeface="微软雅黑"/>
                <a:ea typeface="微软雅黑"/>
                <a:cs typeface="微软雅黑"/>
              </a:rPr>
              <a:t> / 1</a:t>
            </a:r>
            <a:r>
              <a:rPr lang="en-US" sz="900" b="0">
                <a:solidFill>
                  <a:srgbClr val="7E8CA0"/>
                </a:solidFill>
                <a:latin typeface="微软雅黑"/>
                <a:ea typeface="微软雅黑"/>
                <a:cs typeface="微软雅黑"/>
              </a:rPr>
              <a:t>2</a:t>
            </a:r>
            <a:endParaRPr lang="en-US" sz="900" b="0">
              <a:solidFill>
                <a:srgbClr val="7E8CA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3" name="矩形 72"/>
          <p:cNvSpPr>
            <a:spLocks noGrp="1"/>
          </p:cNvSpPr>
          <p:nvPr/>
        </p:nvSpPr>
        <p:spPr>
          <a:xfrm>
            <a:off x="762000" y="1952625"/>
            <a:ext cx="952500" cy="2286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3150" b="1">
                <a:solidFill>
                  <a:srgbClr val="FFFFFF"/>
                </a:solidFill>
                <a:latin typeface="KaiTi"/>
                <a:ea typeface="KaiTi"/>
                <a:cs typeface="KaiTi"/>
              </a:defRPr>
            </a:pPr>
            <a:r>
              <a:rPr sz="3150" b="1">
                <a:solidFill>
                  <a:srgbClr val="FFFFFF"/>
                </a:solidFill>
                <a:latin typeface="KaiTi"/>
                <a:ea typeface="KaiTi"/>
                <a:cs typeface="KaiTi"/>
              </a:rPr>
              <a:t>实</a:t>
            </a:r>
            <a:endParaRPr sz="3150" b="1">
              <a:solidFill>
                <a:srgbClr val="FFFFFF"/>
              </a:solidFill>
              <a:latin typeface="KaiTi"/>
              <a:ea typeface="KaiTi"/>
              <a:cs typeface="KaiTi"/>
            </a:endParaRPr>
          </a:p>
          <a:p>
            <a:pPr algn="ctr">
              <a:defRPr sz="3150" b="1">
                <a:solidFill>
                  <a:srgbClr val="FFFFFF"/>
                </a:solidFill>
                <a:latin typeface="KaiTi"/>
                <a:ea typeface="KaiTi"/>
                <a:cs typeface="KaiTi"/>
              </a:defRPr>
            </a:pPr>
            <a:r>
              <a:rPr sz="3150" b="1">
                <a:solidFill>
                  <a:srgbClr val="FFFFFF"/>
                </a:solidFill>
                <a:latin typeface="KaiTi"/>
                <a:ea typeface="KaiTi"/>
                <a:cs typeface="KaiTi"/>
              </a:rPr>
              <a:t>现</a:t>
            </a:r>
            <a:endParaRPr sz="3150" b="1">
              <a:solidFill>
                <a:srgbClr val="FFFFFF"/>
              </a:solidFill>
              <a:latin typeface="KaiTi"/>
              <a:ea typeface="KaiTi"/>
              <a:cs typeface="KaiTi"/>
            </a:endParaRPr>
          </a:p>
          <a:p>
            <a:pPr algn="ctr">
              <a:defRPr sz="3150" b="1">
                <a:solidFill>
                  <a:srgbClr val="FFFFFF"/>
                </a:solidFill>
                <a:latin typeface="KaiTi"/>
                <a:ea typeface="KaiTi"/>
                <a:cs typeface="KaiTi"/>
              </a:defRPr>
            </a:pPr>
            <a:r>
              <a:rPr sz="3150" b="1">
                <a:solidFill>
                  <a:srgbClr val="FFFFFF"/>
                </a:solidFill>
                <a:latin typeface="KaiTi"/>
                <a:ea typeface="KaiTi"/>
                <a:cs typeface="KaiTi"/>
              </a:rPr>
              <a:t>功</a:t>
            </a:r>
            <a:endParaRPr sz="3150" b="1">
              <a:solidFill>
                <a:srgbClr val="FFFFFF"/>
              </a:solidFill>
              <a:latin typeface="KaiTi"/>
              <a:ea typeface="KaiTi"/>
              <a:cs typeface="KaiTi"/>
            </a:endParaRPr>
          </a:p>
          <a:p>
            <a:pPr algn="ctr">
              <a:defRPr sz="3150" b="1">
                <a:solidFill>
                  <a:srgbClr val="FFFFFF"/>
                </a:solidFill>
                <a:latin typeface="KaiTi"/>
                <a:ea typeface="KaiTi"/>
                <a:cs typeface="KaiTi"/>
              </a:defRPr>
            </a:pPr>
            <a:r>
              <a:rPr sz="3150" b="1">
                <a:solidFill>
                  <a:srgbClr val="FFFFFF"/>
                </a:solidFill>
                <a:latin typeface="KaiTi"/>
                <a:ea typeface="KaiTi"/>
                <a:cs typeface="KaiTi"/>
              </a:rPr>
              <a:t>能</a:t>
            </a:r>
            <a:endParaRPr sz="3150" b="1">
              <a:solidFill>
                <a:srgbClr val="FFFFFF"/>
              </a:solidFill>
              <a:latin typeface="KaiTi"/>
              <a:ea typeface="KaiTi"/>
              <a:cs typeface="KaiTi"/>
            </a:endParaRPr>
          </a:p>
        </p:txBody>
      </p:sp>
      <p:sp>
        <p:nvSpPr>
          <p:cNvPr id="74" name="矩形 73"/>
          <p:cNvSpPr>
            <a:spLocks noGrp="1"/>
          </p:cNvSpPr>
          <p:nvPr/>
        </p:nvSpPr>
        <p:spPr>
          <a:xfrm>
            <a:off x="4000500" y="1695450"/>
            <a:ext cx="476250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3750" b="1">
                <a:solidFill>
                  <a:srgbClr val="0B3C8C"/>
                </a:solidFill>
                <a:latin typeface="KaiTi"/>
                <a:ea typeface="KaiTi"/>
                <a:cs typeface="KaiTi"/>
              </a:defRPr>
            </a:pPr>
            <a:r>
              <a:rPr sz="3750" b="1">
                <a:solidFill>
                  <a:srgbClr val="0B3C8C"/>
                </a:solidFill>
                <a:latin typeface="KaiTi"/>
                <a:ea typeface="KaiTi"/>
                <a:cs typeface="KaiTi"/>
              </a:rPr>
              <a:t>实现功能</a:t>
            </a:r>
            <a:endParaRPr sz="3750" b="1">
              <a:solidFill>
                <a:srgbClr val="0B3C8C"/>
              </a:solidFill>
              <a:latin typeface="KaiTi"/>
              <a:ea typeface="KaiTi"/>
              <a:cs typeface="KaiTi"/>
            </a:endParaRPr>
          </a:p>
        </p:txBody>
      </p:sp>
      <p:sp>
        <p:nvSpPr>
          <p:cNvPr id="75" name="矩形 74"/>
          <p:cNvSpPr>
            <a:spLocks noGrp="1"/>
          </p:cNvSpPr>
          <p:nvPr/>
        </p:nvSpPr>
        <p:spPr>
          <a:xfrm>
            <a:off x="3524250" y="2400300"/>
            <a:ext cx="5715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75" b="0">
                <a:solidFill>
                  <a:srgbClr val="1B243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从自然语言到教学动画的全自动转换</a:t>
            </a:r>
            <a:endParaRPr sz="1875" b="0">
              <a:solidFill>
                <a:srgbClr val="1B243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6" name="椭圆 75"/>
          <p:cNvSpPr>
            <a:spLocks noGrp="1"/>
          </p:cNvSpPr>
          <p:nvPr/>
        </p:nvSpPr>
        <p:spPr>
          <a:xfrm>
            <a:off x="3752850" y="3252788"/>
            <a:ext cx="342900" cy="342900"/>
          </a:xfrm>
          <a:prstGeom prst="ellipse">
            <a:avLst/>
          </a:prstGeom>
          <a:solidFill>
            <a:srgbClr val="1F5EA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  <a:endParaRPr sz="15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7" name="矩形 76"/>
          <p:cNvSpPr>
            <a:spLocks noGrp="1"/>
          </p:cNvSpPr>
          <p:nvPr/>
        </p:nvSpPr>
        <p:spPr>
          <a:xfrm>
            <a:off x="4305300" y="3290888"/>
            <a:ext cx="1714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0B3C8C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0B3C8C"/>
                </a:solidFill>
                <a:latin typeface="微软雅黑"/>
                <a:ea typeface="微软雅黑"/>
                <a:cs typeface="微软雅黑"/>
              </a:rPr>
              <a:t>输入教学主题</a:t>
            </a:r>
            <a:endParaRPr sz="1575" b="1">
              <a:solidFill>
                <a:srgbClr val="0B3C8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8" name="矩形 77"/>
          <p:cNvSpPr>
            <a:spLocks noGrp="1"/>
          </p:cNvSpPr>
          <p:nvPr/>
        </p:nvSpPr>
        <p:spPr>
          <a:xfrm>
            <a:off x="6019800" y="3290888"/>
            <a:ext cx="4000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5F6B7A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5F6B7A"/>
                </a:solidFill>
                <a:latin typeface="微软雅黑"/>
                <a:ea typeface="微软雅黑"/>
                <a:cs typeface="微软雅黑"/>
              </a:rPr>
              <a:t>教师只需描述教学创意</a:t>
            </a:r>
            <a:endParaRPr sz="1275" b="0">
              <a:solidFill>
                <a:srgbClr val="5F6B7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9" name="椭圆 78"/>
          <p:cNvSpPr>
            <a:spLocks noGrp="1"/>
          </p:cNvSpPr>
          <p:nvPr/>
        </p:nvSpPr>
        <p:spPr>
          <a:xfrm>
            <a:off x="3752850" y="3805238"/>
            <a:ext cx="342900" cy="342900"/>
          </a:xfrm>
          <a:prstGeom prst="ellipse">
            <a:avLst/>
          </a:prstGeom>
          <a:solidFill>
            <a:srgbClr val="1F5EA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  <a:endParaRPr sz="15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0" name="矩形 79"/>
          <p:cNvSpPr>
            <a:spLocks noGrp="1"/>
          </p:cNvSpPr>
          <p:nvPr/>
        </p:nvSpPr>
        <p:spPr>
          <a:xfrm>
            <a:off x="4305300" y="3843338"/>
            <a:ext cx="1714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0B3C8C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0B3C8C"/>
                </a:solidFill>
                <a:latin typeface="微软雅黑"/>
                <a:ea typeface="微软雅黑"/>
                <a:cs typeface="微软雅黑"/>
              </a:rPr>
              <a:t>11阶段拆解</a:t>
            </a:r>
            <a:endParaRPr sz="1575" b="1">
              <a:solidFill>
                <a:srgbClr val="0B3C8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1" name="矩形 80"/>
          <p:cNvSpPr>
            <a:spLocks noGrp="1"/>
          </p:cNvSpPr>
          <p:nvPr/>
        </p:nvSpPr>
        <p:spPr>
          <a:xfrm>
            <a:off x="6019800" y="3843338"/>
            <a:ext cx="4000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5F6B7A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5F6B7A"/>
                </a:solidFill>
                <a:latin typeface="微软雅黑"/>
                <a:ea typeface="微软雅黑"/>
                <a:cs typeface="微软雅黑"/>
              </a:rPr>
              <a:t>意图、知识、课程、场景逐步生成</a:t>
            </a:r>
            <a:endParaRPr sz="1275" b="0">
              <a:solidFill>
                <a:srgbClr val="5F6B7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2" name="椭圆 81"/>
          <p:cNvSpPr>
            <a:spLocks noGrp="1"/>
          </p:cNvSpPr>
          <p:nvPr/>
        </p:nvSpPr>
        <p:spPr>
          <a:xfrm>
            <a:off x="3752850" y="4357688"/>
            <a:ext cx="342900" cy="342900"/>
          </a:xfrm>
          <a:prstGeom prst="ellipse">
            <a:avLst/>
          </a:prstGeom>
          <a:solidFill>
            <a:srgbClr val="2EAD6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  <a:endParaRPr sz="15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3" name="矩形 82"/>
          <p:cNvSpPr>
            <a:spLocks noGrp="1"/>
          </p:cNvSpPr>
          <p:nvPr/>
        </p:nvSpPr>
        <p:spPr>
          <a:xfrm>
            <a:off x="4305300" y="4395788"/>
            <a:ext cx="1714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0B3C8C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0B3C8C"/>
                </a:solidFill>
                <a:latin typeface="微软雅黑"/>
                <a:ea typeface="微软雅黑"/>
                <a:cs typeface="微软雅黑"/>
              </a:rPr>
              <a:t>自动验证修复</a:t>
            </a:r>
            <a:endParaRPr sz="1575" b="1">
              <a:solidFill>
                <a:srgbClr val="0B3C8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4" name="矩形 83"/>
          <p:cNvSpPr>
            <a:spLocks noGrp="1"/>
          </p:cNvSpPr>
          <p:nvPr/>
        </p:nvSpPr>
        <p:spPr>
          <a:xfrm>
            <a:off x="6019800" y="4395788"/>
            <a:ext cx="4000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5F6B7A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5F6B7A"/>
                </a:solidFill>
                <a:latin typeface="微软雅黑"/>
                <a:ea typeface="微软雅黑"/>
                <a:cs typeface="微软雅黑"/>
              </a:rPr>
              <a:t>静态检查与渲染错误闭环</a:t>
            </a:r>
            <a:endParaRPr sz="1275" b="0">
              <a:solidFill>
                <a:srgbClr val="5F6B7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5" name="椭圆 84"/>
          <p:cNvSpPr>
            <a:spLocks noGrp="1"/>
          </p:cNvSpPr>
          <p:nvPr/>
        </p:nvSpPr>
        <p:spPr>
          <a:xfrm>
            <a:off x="3752850" y="4910138"/>
            <a:ext cx="342900" cy="342900"/>
          </a:xfrm>
          <a:prstGeom prst="ellipse">
            <a:avLst/>
          </a:prstGeom>
          <a:solidFill>
            <a:srgbClr val="1F5EA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  <a:endParaRPr sz="15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6" name="矩形 85"/>
          <p:cNvSpPr>
            <a:spLocks noGrp="1"/>
          </p:cNvSpPr>
          <p:nvPr/>
        </p:nvSpPr>
        <p:spPr>
          <a:xfrm>
            <a:off x="4305300" y="4948238"/>
            <a:ext cx="1714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0B3C8C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0B3C8C"/>
                </a:solidFill>
                <a:latin typeface="微软雅黑"/>
                <a:ea typeface="微软雅黑"/>
                <a:cs typeface="微软雅黑"/>
              </a:rPr>
              <a:t>Manim成片</a:t>
            </a:r>
            <a:endParaRPr sz="1575" b="1">
              <a:solidFill>
                <a:srgbClr val="0B3C8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7" name="矩形 86"/>
          <p:cNvSpPr>
            <a:spLocks noGrp="1"/>
          </p:cNvSpPr>
          <p:nvPr/>
        </p:nvSpPr>
        <p:spPr>
          <a:xfrm>
            <a:off x="6019800" y="4948238"/>
            <a:ext cx="4000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5F6B7A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5F6B7A"/>
                </a:solidFill>
                <a:latin typeface="微软雅黑"/>
                <a:ea typeface="微软雅黑"/>
                <a:cs typeface="微软雅黑"/>
              </a:rPr>
              <a:t>输出MP4教学动画视频</a:t>
            </a:r>
            <a:endParaRPr sz="1275" b="0">
              <a:solidFill>
                <a:srgbClr val="5F6B7A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5" name="五边形 24"/>
          <p:cNvSpPr>
            <a:spLocks noGrp="1"/>
          </p:cNvSpPr>
          <p:nvPr/>
        </p:nvSpPr>
        <p:spPr>
          <a:xfrm rot="10800000">
            <a:off x="9714230" y="0"/>
            <a:ext cx="2477770" cy="982345"/>
          </a:xfrm>
          <a:prstGeom prst="homePlate">
            <a:avLst>
              <a:gd name="adj" fmla="val 35482"/>
            </a:avLst>
          </a:pr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10801350" y="6496050"/>
            <a:ext cx="857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7E8CA0"/>
                </a:solidFill>
                <a:latin typeface="微软雅黑"/>
                <a:ea typeface="微软雅黑"/>
                <a:cs typeface="微软雅黑"/>
              </a:defRPr>
            </a:pPr>
            <a:r>
              <a:rPr lang="en-US" sz="900" b="0">
                <a:solidFill>
                  <a:srgbClr val="7E8CA0"/>
                </a:solidFill>
                <a:latin typeface="微软雅黑"/>
                <a:ea typeface="微软雅黑"/>
                <a:cs typeface="微软雅黑"/>
              </a:rPr>
              <a:t>05</a:t>
            </a:r>
            <a:r>
              <a:rPr sz="900" b="0">
                <a:solidFill>
                  <a:srgbClr val="7E8CA0"/>
                </a:solidFill>
                <a:latin typeface="微软雅黑"/>
                <a:ea typeface="微软雅黑"/>
                <a:cs typeface="微软雅黑"/>
              </a:rPr>
              <a:t>/ 1</a:t>
            </a:r>
            <a:r>
              <a:rPr lang="en-US" sz="900" b="0">
                <a:solidFill>
                  <a:srgbClr val="7E8CA0"/>
                </a:solidFill>
                <a:latin typeface="微软雅黑"/>
                <a:ea typeface="微软雅黑"/>
                <a:cs typeface="微软雅黑"/>
              </a:rPr>
              <a:t>2</a:t>
            </a:r>
            <a:endParaRPr lang="en-US" sz="900" b="0">
              <a:solidFill>
                <a:srgbClr val="7E8CA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552450" y="276225"/>
            <a:ext cx="91440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2400" b="1">
                <a:solidFill>
                  <a:srgbClr val="FFFFFF"/>
                </a:solidFill>
                <a:latin typeface="KaiTi"/>
                <a:ea typeface="KaiTi"/>
                <a:cs typeface="KaiTi"/>
              </a:defRPr>
            </a:pPr>
            <a:r>
              <a:rPr sz="2400" b="1">
                <a:solidFill>
                  <a:srgbClr val="FFFFFF"/>
                </a:solidFill>
                <a:latin typeface="KaiTi"/>
                <a:ea typeface="KaiTi"/>
                <a:cs typeface="KaiTi"/>
              </a:rPr>
              <a:t>一、系统架构与11阶段AI流水线</a:t>
            </a:r>
            <a:endParaRPr sz="2400" b="1">
              <a:solidFill>
                <a:srgbClr val="FFFFFF"/>
              </a:solidFill>
              <a:latin typeface="KaiTi"/>
              <a:ea typeface="KaiTi"/>
              <a:cs typeface="KaiTi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10306050" y="285750"/>
            <a:ext cx="15240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800" b="1">
                <a:solidFill>
                  <a:srgbClr val="0B3C8C"/>
                </a:solidFill>
                <a:latin typeface="KaiTi"/>
                <a:ea typeface="KaiTi"/>
                <a:cs typeface="KaiTi"/>
              </a:defRPr>
            </a:pPr>
            <a:r>
              <a:rPr sz="1800" b="1">
                <a:solidFill>
                  <a:srgbClr val="0B3C8C"/>
                </a:solidFill>
                <a:latin typeface="KaiTi"/>
                <a:ea typeface="KaiTi"/>
                <a:cs typeface="KaiTi"/>
              </a:rPr>
              <a:t>实现功能</a:t>
            </a:r>
            <a:endParaRPr sz="1800" b="1">
              <a:solidFill>
                <a:srgbClr val="0B3C8C"/>
              </a:solidFill>
              <a:latin typeface="KaiTi"/>
              <a:ea typeface="KaiTi"/>
              <a:cs typeface="KaiTi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762000" y="1219200"/>
            <a:ext cx="7715250" cy="723900"/>
          </a:xfrm>
          <a:prstGeom prst="rect">
            <a:avLst/>
          </a:prstGeom>
          <a:solidFill>
            <a:srgbClr val="E6F1FA"/>
          </a:solidFill>
          <a:ln w="9525">
            <a:solidFill>
              <a:srgbClr val="D1E3F0"/>
            </a:solidFill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857250" y="1285875"/>
            <a:ext cx="752475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425" b="1">
                <a:solidFill>
                  <a:srgbClr val="0B3C8C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0B3C8C"/>
                </a:solidFill>
                <a:latin typeface="微软雅黑"/>
                <a:ea typeface="微软雅黑"/>
                <a:cs typeface="微软雅黑"/>
              </a:rPr>
              <a:t>教师控制台 Web UI</a:t>
            </a:r>
            <a:endParaRPr sz="1425" b="1">
              <a:solidFill>
                <a:srgbClr val="0B3C8C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defRPr sz="1425" b="1">
                <a:solidFill>
                  <a:srgbClr val="0B3C8C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0B3C8C"/>
                </a:solidFill>
                <a:latin typeface="微软雅黑"/>
                <a:ea typeface="微软雅黑"/>
                <a:cs typeface="微软雅黑"/>
              </a:rPr>
              <a:t>输入教学主题 → 选择参数 → 点击生成 → 预览视频</a:t>
            </a:r>
            <a:endParaRPr sz="1425" b="1">
              <a:solidFill>
                <a:srgbClr val="0B3C8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1" name="下箭头 30"/>
          <p:cNvSpPr>
            <a:spLocks noGrp="1"/>
          </p:cNvSpPr>
          <p:nvPr/>
        </p:nvSpPr>
        <p:spPr>
          <a:xfrm>
            <a:off x="4495800" y="2000250"/>
            <a:ext cx="247650" cy="361950"/>
          </a:xfrm>
          <a:prstGeom prst="downArrow">
            <a:avLst/>
          </a:prstGeom>
          <a:solidFill>
            <a:srgbClr val="1F5EA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762000" y="2457450"/>
            <a:ext cx="7715250" cy="2076450"/>
          </a:xfrm>
          <a:prstGeom prst="rect">
            <a:avLst/>
          </a:prstGeom>
          <a:solidFill>
            <a:srgbClr val="F8FBFE"/>
          </a:solidFill>
          <a:ln w="9525">
            <a:solidFill>
              <a:srgbClr val="BCD3EA"/>
            </a:solidFill>
            <a:prstDash val="solid"/>
          </a:ln>
        </p:spPr>
      </p:sp>
      <p:sp>
        <p:nvSpPr>
          <p:cNvPr id="33" name="矩形 32"/>
          <p:cNvSpPr>
            <a:spLocks noGrp="1"/>
          </p:cNvSpPr>
          <p:nvPr/>
        </p:nvSpPr>
        <p:spPr>
          <a:xfrm>
            <a:off x="990600" y="2609850"/>
            <a:ext cx="2762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0B3C8C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0B3C8C"/>
                </a:solidFill>
                <a:latin typeface="微软雅黑"/>
                <a:ea typeface="微软雅黑"/>
                <a:cs typeface="微软雅黑"/>
              </a:rPr>
              <a:t>AI智能体流水线（11阶段）</a:t>
            </a:r>
            <a:endParaRPr sz="1650" b="1">
              <a:solidFill>
                <a:srgbClr val="0B3C8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1028700" y="3105150"/>
            <a:ext cx="685800" cy="571500"/>
          </a:xfrm>
          <a:prstGeom prst="rect">
            <a:avLst/>
          </a:prstGeom>
          <a:solidFill>
            <a:srgbClr val="DDEEFF"/>
          </a:solidFill>
          <a:ln w="9525">
            <a:solidFill>
              <a:srgbClr val="D1E3F0"/>
            </a:solidFill>
            <a:prstDash val="solid"/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1123950" y="3171825"/>
            <a:ext cx="4953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200" b="1">
                <a:solidFill>
                  <a:srgbClr val="0B3C8C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0B3C8C"/>
                </a:solidFill>
                <a:latin typeface="微软雅黑"/>
                <a:ea typeface="微软雅黑"/>
                <a:cs typeface="微软雅黑"/>
              </a:rPr>
              <a:t>意图</a:t>
            </a:r>
            <a:endParaRPr sz="1200" b="1">
              <a:solidFill>
                <a:srgbClr val="0B3C8C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defRPr sz="1200" b="1">
                <a:solidFill>
                  <a:srgbClr val="0B3C8C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0B3C8C"/>
                </a:solidFill>
                <a:latin typeface="微软雅黑"/>
                <a:ea typeface="微软雅黑"/>
                <a:cs typeface="微软雅黑"/>
              </a:rPr>
              <a:t>分析</a:t>
            </a:r>
            <a:endParaRPr sz="1200" b="1">
              <a:solidFill>
                <a:srgbClr val="0B3C8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6" name="右箭头 35"/>
          <p:cNvSpPr>
            <a:spLocks noGrp="1"/>
          </p:cNvSpPr>
          <p:nvPr/>
        </p:nvSpPr>
        <p:spPr>
          <a:xfrm>
            <a:off x="1714500" y="3286125"/>
            <a:ext cx="228600" cy="209550"/>
          </a:xfrm>
          <a:prstGeom prst="rightArrow">
            <a:avLst/>
          </a:prstGeom>
          <a:solidFill>
            <a:srgbClr val="1F5EA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矩形 36"/>
          <p:cNvSpPr>
            <a:spLocks noGrp="1"/>
          </p:cNvSpPr>
          <p:nvPr/>
        </p:nvSpPr>
        <p:spPr>
          <a:xfrm>
            <a:off x="1924050" y="3105150"/>
            <a:ext cx="685800" cy="571500"/>
          </a:xfrm>
          <a:prstGeom prst="rect">
            <a:avLst/>
          </a:prstGeom>
          <a:solidFill>
            <a:srgbClr val="DDEEFF"/>
          </a:solidFill>
          <a:ln w="9525">
            <a:solidFill>
              <a:srgbClr val="D1E3F0"/>
            </a:solidFill>
            <a:prstDash val="solid"/>
          </a:ln>
        </p:spPr>
      </p:sp>
      <p:sp>
        <p:nvSpPr>
          <p:cNvPr id="38" name="矩形 37"/>
          <p:cNvSpPr>
            <a:spLocks noGrp="1"/>
          </p:cNvSpPr>
          <p:nvPr/>
        </p:nvSpPr>
        <p:spPr>
          <a:xfrm>
            <a:off x="2019300" y="3171825"/>
            <a:ext cx="4953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200" b="1">
                <a:solidFill>
                  <a:srgbClr val="0B3C8C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0B3C8C"/>
                </a:solidFill>
                <a:latin typeface="微软雅黑"/>
                <a:ea typeface="微软雅黑"/>
                <a:cs typeface="微软雅黑"/>
              </a:rPr>
              <a:t>知识</a:t>
            </a:r>
            <a:endParaRPr sz="1200" b="1">
              <a:solidFill>
                <a:srgbClr val="0B3C8C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defRPr sz="1200" b="1">
                <a:solidFill>
                  <a:srgbClr val="0B3C8C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0B3C8C"/>
                </a:solidFill>
                <a:latin typeface="微软雅黑"/>
                <a:ea typeface="微软雅黑"/>
                <a:cs typeface="微软雅黑"/>
              </a:rPr>
              <a:t>图谱</a:t>
            </a:r>
            <a:endParaRPr sz="1200" b="1">
              <a:solidFill>
                <a:srgbClr val="0B3C8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9" name="右箭头 38"/>
          <p:cNvSpPr>
            <a:spLocks noGrp="1"/>
          </p:cNvSpPr>
          <p:nvPr/>
        </p:nvSpPr>
        <p:spPr>
          <a:xfrm>
            <a:off x="2609850" y="3286125"/>
            <a:ext cx="228600" cy="209550"/>
          </a:xfrm>
          <a:prstGeom prst="rightArrow">
            <a:avLst/>
          </a:prstGeom>
          <a:solidFill>
            <a:srgbClr val="1F5EA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矩形 39"/>
          <p:cNvSpPr>
            <a:spLocks noGrp="1"/>
          </p:cNvSpPr>
          <p:nvPr/>
        </p:nvSpPr>
        <p:spPr>
          <a:xfrm>
            <a:off x="2819400" y="3105150"/>
            <a:ext cx="685800" cy="571500"/>
          </a:xfrm>
          <a:prstGeom prst="rect">
            <a:avLst/>
          </a:prstGeom>
          <a:solidFill>
            <a:srgbClr val="DDEEFF"/>
          </a:solidFill>
          <a:ln w="9525">
            <a:solidFill>
              <a:srgbClr val="D1E3F0"/>
            </a:solidFill>
            <a:prstDash val="solid"/>
          </a:ln>
        </p:spPr>
      </p:sp>
      <p:sp>
        <p:nvSpPr>
          <p:cNvPr id="41" name="矩形 40"/>
          <p:cNvSpPr>
            <a:spLocks noGrp="1"/>
          </p:cNvSpPr>
          <p:nvPr/>
        </p:nvSpPr>
        <p:spPr>
          <a:xfrm>
            <a:off x="2914650" y="3171825"/>
            <a:ext cx="4953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200" b="1">
                <a:solidFill>
                  <a:srgbClr val="0B3C8C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0B3C8C"/>
                </a:solidFill>
                <a:latin typeface="微软雅黑"/>
                <a:ea typeface="微软雅黑"/>
                <a:cs typeface="微软雅黑"/>
              </a:rPr>
              <a:t>课程</a:t>
            </a:r>
            <a:endParaRPr sz="1200" b="1">
              <a:solidFill>
                <a:srgbClr val="0B3C8C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defRPr sz="1200" b="1">
                <a:solidFill>
                  <a:srgbClr val="0B3C8C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0B3C8C"/>
                </a:solidFill>
                <a:latin typeface="微软雅黑"/>
                <a:ea typeface="微软雅黑"/>
                <a:cs typeface="微软雅黑"/>
              </a:rPr>
              <a:t>方案</a:t>
            </a:r>
            <a:endParaRPr sz="1200" b="1">
              <a:solidFill>
                <a:srgbClr val="0B3C8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2" name="右箭头 41"/>
          <p:cNvSpPr>
            <a:spLocks noGrp="1"/>
          </p:cNvSpPr>
          <p:nvPr/>
        </p:nvSpPr>
        <p:spPr>
          <a:xfrm>
            <a:off x="3505200" y="3286125"/>
            <a:ext cx="228600" cy="209550"/>
          </a:xfrm>
          <a:prstGeom prst="rightArrow">
            <a:avLst/>
          </a:prstGeom>
          <a:solidFill>
            <a:srgbClr val="1F5EA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矩形 42"/>
          <p:cNvSpPr>
            <a:spLocks noGrp="1"/>
          </p:cNvSpPr>
          <p:nvPr/>
        </p:nvSpPr>
        <p:spPr>
          <a:xfrm>
            <a:off x="3714750" y="3105150"/>
            <a:ext cx="685800" cy="571500"/>
          </a:xfrm>
          <a:prstGeom prst="rect">
            <a:avLst/>
          </a:prstGeom>
          <a:solidFill>
            <a:srgbClr val="DDEEFF"/>
          </a:solidFill>
          <a:ln w="9525">
            <a:solidFill>
              <a:srgbClr val="D1E3F0"/>
            </a:solidFill>
            <a:prstDash val="solid"/>
          </a:ln>
        </p:spPr>
      </p:sp>
      <p:sp>
        <p:nvSpPr>
          <p:cNvPr id="44" name="矩形 43"/>
          <p:cNvSpPr>
            <a:spLocks noGrp="1"/>
          </p:cNvSpPr>
          <p:nvPr/>
        </p:nvSpPr>
        <p:spPr>
          <a:xfrm>
            <a:off x="3810000" y="3171825"/>
            <a:ext cx="4953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200" b="1">
                <a:solidFill>
                  <a:srgbClr val="0B3C8C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0B3C8C"/>
                </a:solidFill>
                <a:latin typeface="微软雅黑"/>
                <a:ea typeface="微软雅黑"/>
                <a:cs typeface="微软雅黑"/>
              </a:rPr>
              <a:t>数学</a:t>
            </a:r>
            <a:endParaRPr sz="1200" b="1">
              <a:solidFill>
                <a:srgbClr val="0B3C8C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defRPr sz="1200" b="1">
                <a:solidFill>
                  <a:srgbClr val="0B3C8C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0B3C8C"/>
                </a:solidFill>
                <a:latin typeface="微软雅黑"/>
                <a:ea typeface="微软雅黑"/>
                <a:cs typeface="微软雅黑"/>
              </a:rPr>
              <a:t>封装</a:t>
            </a:r>
            <a:endParaRPr sz="1200" b="1">
              <a:solidFill>
                <a:srgbClr val="0B3C8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5" name="右箭头 44"/>
          <p:cNvSpPr>
            <a:spLocks noGrp="1"/>
          </p:cNvSpPr>
          <p:nvPr/>
        </p:nvSpPr>
        <p:spPr>
          <a:xfrm>
            <a:off x="4400550" y="3286125"/>
            <a:ext cx="228600" cy="209550"/>
          </a:xfrm>
          <a:prstGeom prst="rightArrow">
            <a:avLst/>
          </a:prstGeom>
          <a:solidFill>
            <a:srgbClr val="1F5EA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矩形 45"/>
          <p:cNvSpPr>
            <a:spLocks noGrp="1"/>
          </p:cNvSpPr>
          <p:nvPr/>
        </p:nvSpPr>
        <p:spPr>
          <a:xfrm>
            <a:off x="4610100" y="3105150"/>
            <a:ext cx="685800" cy="571500"/>
          </a:xfrm>
          <a:prstGeom prst="rect">
            <a:avLst/>
          </a:prstGeom>
          <a:solidFill>
            <a:srgbClr val="DDEEFF"/>
          </a:solidFill>
          <a:ln w="9525">
            <a:solidFill>
              <a:srgbClr val="D1E3F0"/>
            </a:solidFill>
            <a:prstDash val="solid"/>
          </a:ln>
        </p:spPr>
      </p:sp>
      <p:sp>
        <p:nvSpPr>
          <p:cNvPr id="47" name="矩形 46"/>
          <p:cNvSpPr>
            <a:spLocks noGrp="1"/>
          </p:cNvSpPr>
          <p:nvPr/>
        </p:nvSpPr>
        <p:spPr>
          <a:xfrm>
            <a:off x="4705350" y="3171825"/>
            <a:ext cx="4953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200" b="1">
                <a:solidFill>
                  <a:srgbClr val="0B3C8C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0B3C8C"/>
                </a:solidFill>
                <a:latin typeface="微软雅黑"/>
                <a:ea typeface="微软雅黑"/>
                <a:cs typeface="微软雅黑"/>
              </a:rPr>
              <a:t>分镜</a:t>
            </a:r>
            <a:endParaRPr sz="1200" b="1">
              <a:solidFill>
                <a:srgbClr val="0B3C8C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defRPr sz="1200" b="1">
                <a:solidFill>
                  <a:srgbClr val="0B3C8C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0B3C8C"/>
                </a:solidFill>
                <a:latin typeface="微软雅黑"/>
                <a:ea typeface="微软雅黑"/>
                <a:cs typeface="微软雅黑"/>
              </a:rPr>
              <a:t>脚本</a:t>
            </a:r>
            <a:endParaRPr sz="1200" b="1">
              <a:solidFill>
                <a:srgbClr val="0B3C8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8" name="右箭头 47"/>
          <p:cNvSpPr>
            <a:spLocks noGrp="1"/>
          </p:cNvSpPr>
          <p:nvPr/>
        </p:nvSpPr>
        <p:spPr>
          <a:xfrm>
            <a:off x="5295900" y="3286125"/>
            <a:ext cx="228600" cy="209550"/>
          </a:xfrm>
          <a:prstGeom prst="rightArrow">
            <a:avLst/>
          </a:prstGeom>
          <a:solidFill>
            <a:srgbClr val="1F5EA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矩形 48"/>
          <p:cNvSpPr>
            <a:spLocks noGrp="1"/>
          </p:cNvSpPr>
          <p:nvPr/>
        </p:nvSpPr>
        <p:spPr>
          <a:xfrm>
            <a:off x="5505450" y="3105150"/>
            <a:ext cx="685800" cy="571500"/>
          </a:xfrm>
          <a:prstGeom prst="rect">
            <a:avLst/>
          </a:prstGeom>
          <a:solidFill>
            <a:srgbClr val="DDEEFF"/>
          </a:solidFill>
          <a:ln w="9525">
            <a:solidFill>
              <a:srgbClr val="D1E3F0"/>
            </a:solidFill>
            <a:prstDash val="solid"/>
          </a:ln>
        </p:spPr>
      </p:sp>
      <p:sp>
        <p:nvSpPr>
          <p:cNvPr id="50" name="矩形 49"/>
          <p:cNvSpPr>
            <a:spLocks noGrp="1"/>
          </p:cNvSpPr>
          <p:nvPr/>
        </p:nvSpPr>
        <p:spPr>
          <a:xfrm>
            <a:off x="5600700" y="3171825"/>
            <a:ext cx="4953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200" b="1">
                <a:solidFill>
                  <a:srgbClr val="0B3C8C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0B3C8C"/>
                </a:solidFill>
                <a:latin typeface="微软雅黑"/>
                <a:ea typeface="微软雅黑"/>
                <a:cs typeface="微软雅黑"/>
              </a:rPr>
              <a:t>场景</a:t>
            </a:r>
            <a:endParaRPr sz="1200" b="1">
              <a:solidFill>
                <a:srgbClr val="0B3C8C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defRPr sz="1200" b="1">
                <a:solidFill>
                  <a:srgbClr val="0B3C8C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0B3C8C"/>
                </a:solidFill>
                <a:latin typeface="微软雅黑"/>
                <a:ea typeface="微软雅黑"/>
                <a:cs typeface="微软雅黑"/>
              </a:rPr>
              <a:t>规格</a:t>
            </a:r>
            <a:endParaRPr sz="1200" b="1">
              <a:solidFill>
                <a:srgbClr val="0B3C8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1" name="右箭头 50"/>
          <p:cNvSpPr>
            <a:spLocks noGrp="1"/>
          </p:cNvSpPr>
          <p:nvPr/>
        </p:nvSpPr>
        <p:spPr>
          <a:xfrm>
            <a:off x="6191250" y="3286125"/>
            <a:ext cx="228600" cy="209550"/>
          </a:xfrm>
          <a:prstGeom prst="rightArrow">
            <a:avLst/>
          </a:prstGeom>
          <a:solidFill>
            <a:srgbClr val="2EAD6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矩形 51"/>
          <p:cNvSpPr>
            <a:spLocks noGrp="1"/>
          </p:cNvSpPr>
          <p:nvPr/>
        </p:nvSpPr>
        <p:spPr>
          <a:xfrm>
            <a:off x="6400800" y="3105150"/>
            <a:ext cx="685800" cy="571500"/>
          </a:xfrm>
          <a:prstGeom prst="rect">
            <a:avLst/>
          </a:prstGeom>
          <a:solidFill>
            <a:srgbClr val="E7F7ED"/>
          </a:solidFill>
          <a:ln w="9525">
            <a:solidFill>
              <a:srgbClr val="D1E3F0"/>
            </a:solidFill>
            <a:prstDash val="solid"/>
          </a:ln>
        </p:spPr>
      </p:sp>
      <p:sp>
        <p:nvSpPr>
          <p:cNvPr id="53" name="矩形 52"/>
          <p:cNvSpPr>
            <a:spLocks noGrp="1"/>
          </p:cNvSpPr>
          <p:nvPr/>
        </p:nvSpPr>
        <p:spPr>
          <a:xfrm>
            <a:off x="6496050" y="3171825"/>
            <a:ext cx="4953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200" b="1">
                <a:solidFill>
                  <a:srgbClr val="2EAD6B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2EAD6B"/>
                </a:solidFill>
                <a:latin typeface="微软雅黑"/>
                <a:ea typeface="微软雅黑"/>
                <a:cs typeface="微软雅黑"/>
              </a:rPr>
              <a:t>代码</a:t>
            </a:r>
            <a:endParaRPr sz="1200" b="1">
              <a:solidFill>
                <a:srgbClr val="2EAD6B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defRPr sz="1200" b="1">
                <a:solidFill>
                  <a:srgbClr val="2EAD6B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2EAD6B"/>
                </a:solidFill>
                <a:latin typeface="微软雅黑"/>
                <a:ea typeface="微软雅黑"/>
                <a:cs typeface="微软雅黑"/>
              </a:rPr>
              <a:t>生成</a:t>
            </a:r>
            <a:endParaRPr sz="1200" b="1">
              <a:solidFill>
                <a:srgbClr val="2EAD6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4" name="右箭头 53"/>
          <p:cNvSpPr>
            <a:spLocks noGrp="1"/>
          </p:cNvSpPr>
          <p:nvPr/>
        </p:nvSpPr>
        <p:spPr>
          <a:xfrm>
            <a:off x="7086600" y="3286125"/>
            <a:ext cx="228600" cy="209550"/>
          </a:xfrm>
          <a:prstGeom prst="rightArrow">
            <a:avLst/>
          </a:prstGeom>
          <a:solidFill>
            <a:srgbClr val="2EAD6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矩形 54"/>
          <p:cNvSpPr>
            <a:spLocks noGrp="1"/>
          </p:cNvSpPr>
          <p:nvPr/>
        </p:nvSpPr>
        <p:spPr>
          <a:xfrm>
            <a:off x="7296150" y="3105150"/>
            <a:ext cx="685800" cy="571500"/>
          </a:xfrm>
          <a:prstGeom prst="rect">
            <a:avLst/>
          </a:prstGeom>
          <a:solidFill>
            <a:srgbClr val="E7F7ED"/>
          </a:solidFill>
          <a:ln w="9525">
            <a:solidFill>
              <a:srgbClr val="D1E3F0"/>
            </a:solidFill>
            <a:prstDash val="solid"/>
          </a:ln>
        </p:spPr>
      </p:sp>
      <p:sp>
        <p:nvSpPr>
          <p:cNvPr id="56" name="矩形 55"/>
          <p:cNvSpPr>
            <a:spLocks noGrp="1"/>
          </p:cNvSpPr>
          <p:nvPr/>
        </p:nvSpPr>
        <p:spPr>
          <a:xfrm>
            <a:off x="7391400" y="3171825"/>
            <a:ext cx="4953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200" b="1">
                <a:solidFill>
                  <a:srgbClr val="2EAD6B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2EAD6B"/>
                </a:solidFill>
                <a:latin typeface="微软雅黑"/>
                <a:ea typeface="微软雅黑"/>
                <a:cs typeface="微软雅黑"/>
              </a:rPr>
              <a:t>验证</a:t>
            </a:r>
            <a:endParaRPr sz="1200" b="1">
              <a:solidFill>
                <a:srgbClr val="2EAD6B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defRPr sz="1200" b="1">
                <a:solidFill>
                  <a:srgbClr val="2EAD6B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2EAD6B"/>
                </a:solidFill>
                <a:latin typeface="微软雅黑"/>
                <a:ea typeface="微软雅黑"/>
                <a:cs typeface="微软雅黑"/>
              </a:rPr>
              <a:t>修复</a:t>
            </a:r>
            <a:endParaRPr sz="1200" b="1">
              <a:solidFill>
                <a:srgbClr val="2EAD6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7" name="矩形 56"/>
          <p:cNvSpPr>
            <a:spLocks noGrp="1"/>
          </p:cNvSpPr>
          <p:nvPr/>
        </p:nvSpPr>
        <p:spPr>
          <a:xfrm>
            <a:off x="1466850" y="3924300"/>
            <a:ext cx="6286500" cy="438150"/>
          </a:xfrm>
          <a:prstGeom prst="rect">
            <a:avLst/>
          </a:prstGeom>
          <a:solidFill>
            <a:srgbClr val="FFF7E8"/>
          </a:solidFill>
          <a:ln w="9525">
            <a:solidFill>
              <a:srgbClr val="F3C16C"/>
            </a:solidFill>
            <a:prstDash val="solid"/>
          </a:ln>
        </p:spPr>
      </p:sp>
      <p:sp>
        <p:nvSpPr>
          <p:cNvPr id="58" name="矩形 57"/>
          <p:cNvSpPr>
            <a:spLocks noGrp="1"/>
          </p:cNvSpPr>
          <p:nvPr/>
        </p:nvSpPr>
        <p:spPr>
          <a:xfrm>
            <a:off x="1676400" y="4029075"/>
            <a:ext cx="58864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1">
                <a:solidFill>
                  <a:srgbClr val="925B00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925B00"/>
                </a:solidFill>
                <a:latin typeface="微软雅黑"/>
                <a:ea typeface="微软雅黑"/>
                <a:cs typeface="微软雅黑"/>
              </a:rPr>
              <a:t>自动验证与修复引擎：静态验证 → 代码修复（≤3轮）→ 渲染 → 渲染修复</a:t>
            </a:r>
            <a:endParaRPr sz="1275" b="1">
              <a:solidFill>
                <a:srgbClr val="925B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9" name="下箭头 58"/>
          <p:cNvSpPr>
            <a:spLocks noGrp="1"/>
          </p:cNvSpPr>
          <p:nvPr/>
        </p:nvSpPr>
        <p:spPr>
          <a:xfrm>
            <a:off x="4495800" y="4591050"/>
            <a:ext cx="247650" cy="361950"/>
          </a:xfrm>
          <a:prstGeom prst="downArrow">
            <a:avLst/>
          </a:prstGeom>
          <a:solidFill>
            <a:srgbClr val="2EAD6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" name="矩形 59"/>
          <p:cNvSpPr>
            <a:spLocks noGrp="1"/>
          </p:cNvSpPr>
          <p:nvPr/>
        </p:nvSpPr>
        <p:spPr>
          <a:xfrm>
            <a:off x="762000" y="5067300"/>
            <a:ext cx="7715250" cy="647700"/>
          </a:xfrm>
          <a:prstGeom prst="rect">
            <a:avLst/>
          </a:prstGeom>
          <a:solidFill>
            <a:srgbClr val="EAF8F2"/>
          </a:solidFill>
          <a:ln w="9525">
            <a:solidFill>
              <a:srgbClr val="D1E3F0"/>
            </a:solidFill>
            <a:prstDash val="solid"/>
          </a:ln>
        </p:spPr>
      </p:sp>
      <p:sp>
        <p:nvSpPr>
          <p:cNvPr id="61" name="矩形 60"/>
          <p:cNvSpPr>
            <a:spLocks noGrp="1"/>
          </p:cNvSpPr>
          <p:nvPr/>
        </p:nvSpPr>
        <p:spPr>
          <a:xfrm>
            <a:off x="857250" y="5133975"/>
            <a:ext cx="75247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425" b="1">
                <a:solidFill>
                  <a:srgbClr val="2EAD6B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2EAD6B"/>
                </a:solidFill>
                <a:latin typeface="微软雅黑"/>
                <a:ea typeface="微软雅黑"/>
                <a:cs typeface="微软雅黑"/>
              </a:rPr>
              <a:t>渲染后端 Manim CE + FFmpeg</a:t>
            </a:r>
            <a:endParaRPr sz="1425" b="1">
              <a:solidFill>
                <a:srgbClr val="2EAD6B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defRPr sz="1425" b="1">
                <a:solidFill>
                  <a:srgbClr val="2EAD6B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2EAD6B"/>
                </a:solidFill>
                <a:latin typeface="微软雅黑"/>
                <a:ea typeface="微软雅黑"/>
                <a:cs typeface="微软雅黑"/>
              </a:rPr>
              <a:t>输出：MP4教学动画视频</a:t>
            </a:r>
            <a:endParaRPr sz="1425" b="1">
              <a:solidFill>
                <a:srgbClr val="2EAD6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2" name="矩形 61"/>
          <p:cNvSpPr>
            <a:spLocks noGrp="1"/>
          </p:cNvSpPr>
          <p:nvPr/>
        </p:nvSpPr>
        <p:spPr>
          <a:xfrm>
            <a:off x="8953500" y="1314450"/>
            <a:ext cx="1524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0B3C8C"/>
                </a:solidFill>
                <a:latin typeface="KaiTi"/>
                <a:ea typeface="KaiTi"/>
                <a:cs typeface="KaiTi"/>
              </a:defRPr>
            </a:pPr>
            <a:r>
              <a:rPr sz="1800" b="1">
                <a:solidFill>
                  <a:srgbClr val="0B3C8C"/>
                </a:solidFill>
                <a:latin typeface="KaiTi"/>
                <a:ea typeface="KaiTi"/>
                <a:cs typeface="KaiTi"/>
              </a:rPr>
              <a:t>关键特性</a:t>
            </a:r>
            <a:endParaRPr sz="1800" b="1">
              <a:solidFill>
                <a:srgbClr val="0B3C8C"/>
              </a:solidFill>
              <a:latin typeface="KaiTi"/>
              <a:ea typeface="KaiTi"/>
              <a:cs typeface="KaiTi"/>
            </a:endParaRPr>
          </a:p>
        </p:txBody>
      </p:sp>
      <p:sp>
        <p:nvSpPr>
          <p:cNvPr id="63" name="椭圆 62"/>
          <p:cNvSpPr>
            <a:spLocks noGrp="1"/>
          </p:cNvSpPr>
          <p:nvPr/>
        </p:nvSpPr>
        <p:spPr>
          <a:xfrm>
            <a:off x="8953500" y="1819275"/>
            <a:ext cx="76200" cy="76200"/>
          </a:xfrm>
          <a:prstGeom prst="ellipse">
            <a:avLst/>
          </a:prstGeom>
          <a:solidFill>
            <a:srgbClr val="00A3E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" name="矩形 63"/>
          <p:cNvSpPr>
            <a:spLocks noGrp="1"/>
          </p:cNvSpPr>
          <p:nvPr/>
        </p:nvSpPr>
        <p:spPr>
          <a:xfrm>
            <a:off x="9124950" y="1752600"/>
            <a:ext cx="22098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B2430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每阶段独立数据模型，JSON留痕</a:t>
            </a:r>
            <a:endParaRPr sz="1275" b="0">
              <a:solidFill>
                <a:srgbClr val="1B243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5" name="椭圆 64"/>
          <p:cNvSpPr>
            <a:spLocks noGrp="1"/>
          </p:cNvSpPr>
          <p:nvPr/>
        </p:nvSpPr>
        <p:spPr>
          <a:xfrm>
            <a:off x="8953500" y="2371725"/>
            <a:ext cx="76200" cy="76200"/>
          </a:xfrm>
          <a:prstGeom prst="ellipse">
            <a:avLst/>
          </a:prstGeom>
          <a:solidFill>
            <a:srgbClr val="00A3E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" name="矩形 65"/>
          <p:cNvSpPr>
            <a:spLocks noGrp="1"/>
          </p:cNvSpPr>
          <p:nvPr/>
        </p:nvSpPr>
        <p:spPr>
          <a:xfrm>
            <a:off x="9124950" y="2305050"/>
            <a:ext cx="23050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B2430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任意阶段可重新生成，支持断点续跑</a:t>
            </a:r>
            <a:endParaRPr sz="1275" b="0">
              <a:solidFill>
                <a:srgbClr val="1B243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7" name="椭圆 66"/>
          <p:cNvSpPr>
            <a:spLocks noGrp="1"/>
          </p:cNvSpPr>
          <p:nvPr/>
        </p:nvSpPr>
        <p:spPr>
          <a:xfrm>
            <a:off x="8953500" y="2924175"/>
            <a:ext cx="76200" cy="76200"/>
          </a:xfrm>
          <a:prstGeom prst="ellipse">
            <a:avLst/>
          </a:prstGeom>
          <a:solidFill>
            <a:srgbClr val="2EAD6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" name="矩形 67"/>
          <p:cNvSpPr>
            <a:spLocks noGrp="1"/>
          </p:cNvSpPr>
          <p:nvPr/>
        </p:nvSpPr>
        <p:spPr>
          <a:xfrm>
            <a:off x="9124950" y="2857500"/>
            <a:ext cx="23050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B2430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静态验证 + 渲染修复双重保障</a:t>
            </a:r>
            <a:endParaRPr sz="1275" b="0">
              <a:solidFill>
                <a:srgbClr val="1B243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9" name="椭圆 68"/>
          <p:cNvSpPr>
            <a:spLocks noGrp="1"/>
          </p:cNvSpPr>
          <p:nvPr/>
        </p:nvSpPr>
        <p:spPr>
          <a:xfrm>
            <a:off x="8953500" y="3476625"/>
            <a:ext cx="76200" cy="76200"/>
          </a:xfrm>
          <a:prstGeom prst="ellipse">
            <a:avLst/>
          </a:prstGeom>
          <a:solidFill>
            <a:srgbClr val="00A3E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" name="矩形 69"/>
          <p:cNvSpPr>
            <a:spLocks noGrp="1"/>
          </p:cNvSpPr>
          <p:nvPr/>
        </p:nvSpPr>
        <p:spPr>
          <a:xfrm>
            <a:off x="9124950" y="3409950"/>
            <a:ext cx="23050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B2430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全流程AI驱动，教师只输入主题</a:t>
            </a:r>
            <a:endParaRPr sz="1275" b="0">
              <a:solidFill>
                <a:srgbClr val="1B2430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5" name="五边形 24"/>
          <p:cNvSpPr>
            <a:spLocks noGrp="1"/>
          </p:cNvSpPr>
          <p:nvPr/>
        </p:nvSpPr>
        <p:spPr>
          <a:xfrm rot="10800000">
            <a:off x="9714230" y="0"/>
            <a:ext cx="2477770" cy="982345"/>
          </a:xfrm>
          <a:prstGeom prst="homePlate">
            <a:avLst>
              <a:gd name="adj" fmla="val 35482"/>
            </a:avLst>
          </a:pr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10801350" y="6496050"/>
            <a:ext cx="857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7E8CA0"/>
                </a:solidFill>
                <a:latin typeface="微软雅黑"/>
                <a:ea typeface="微软雅黑"/>
                <a:cs typeface="微软雅黑"/>
              </a:defRPr>
            </a:pPr>
            <a:r>
              <a:rPr lang="en-US" sz="900" b="0">
                <a:solidFill>
                  <a:srgbClr val="7E8CA0"/>
                </a:solidFill>
                <a:latin typeface="微软雅黑"/>
                <a:ea typeface="微软雅黑"/>
                <a:cs typeface="微软雅黑"/>
              </a:rPr>
              <a:t>06</a:t>
            </a:r>
            <a:r>
              <a:rPr sz="900" b="0">
                <a:solidFill>
                  <a:srgbClr val="7E8CA0"/>
                </a:solidFill>
                <a:latin typeface="微软雅黑"/>
                <a:ea typeface="微软雅黑"/>
                <a:cs typeface="微软雅黑"/>
              </a:rPr>
              <a:t> / 1</a:t>
            </a:r>
            <a:r>
              <a:rPr lang="en-US" sz="900" b="0">
                <a:solidFill>
                  <a:srgbClr val="7E8CA0"/>
                </a:solidFill>
                <a:latin typeface="微软雅黑"/>
                <a:ea typeface="微软雅黑"/>
                <a:cs typeface="微软雅黑"/>
              </a:rPr>
              <a:t>2</a:t>
            </a:r>
            <a:endParaRPr lang="en-US" sz="900" b="0">
              <a:solidFill>
                <a:srgbClr val="7E8CA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552450" y="276225"/>
            <a:ext cx="91440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2400" b="1">
                <a:solidFill>
                  <a:srgbClr val="FFFFFF"/>
                </a:solidFill>
                <a:latin typeface="KaiTi"/>
                <a:ea typeface="KaiTi"/>
                <a:cs typeface="KaiTi"/>
              </a:defRPr>
            </a:pPr>
            <a:r>
              <a:rPr sz="2400" b="1">
                <a:solidFill>
                  <a:srgbClr val="FFFFFF"/>
                </a:solidFill>
                <a:latin typeface="KaiTi"/>
                <a:ea typeface="KaiTi"/>
                <a:cs typeface="KaiTi"/>
              </a:rPr>
              <a:t>二、双模式生成与容错机制</a:t>
            </a:r>
            <a:endParaRPr sz="2400" b="1">
              <a:solidFill>
                <a:srgbClr val="FFFFFF"/>
              </a:solidFill>
              <a:latin typeface="KaiTi"/>
              <a:ea typeface="KaiTi"/>
              <a:cs typeface="KaiTi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10306050" y="285750"/>
            <a:ext cx="15240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800" b="1">
                <a:solidFill>
                  <a:srgbClr val="0B3C8C"/>
                </a:solidFill>
                <a:latin typeface="KaiTi"/>
                <a:ea typeface="KaiTi"/>
                <a:cs typeface="KaiTi"/>
              </a:defRPr>
            </a:pPr>
            <a:r>
              <a:rPr sz="1800" b="1">
                <a:solidFill>
                  <a:srgbClr val="0B3C8C"/>
                </a:solidFill>
                <a:latin typeface="KaiTi"/>
                <a:ea typeface="KaiTi"/>
                <a:cs typeface="KaiTi"/>
              </a:rPr>
              <a:t>实现功能</a:t>
            </a:r>
            <a:endParaRPr sz="1800" b="1">
              <a:solidFill>
                <a:srgbClr val="0B3C8C"/>
              </a:solidFill>
              <a:latin typeface="KaiTi"/>
              <a:ea typeface="KaiTi"/>
              <a:cs typeface="KaiTi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723900" y="1219200"/>
            <a:ext cx="2762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0B3C8C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0B3C8C"/>
                </a:solidFill>
                <a:latin typeface="微软雅黑"/>
                <a:ea typeface="微软雅黑"/>
                <a:cs typeface="微软雅黑"/>
              </a:rPr>
              <a:t>灵活的双模式设计</a:t>
            </a:r>
            <a:endParaRPr sz="1725" b="1">
              <a:solidFill>
                <a:srgbClr val="0B3C8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723900" y="1619250"/>
            <a:ext cx="2133600" cy="514350"/>
          </a:xfrm>
          <a:prstGeom prst="rect">
            <a:avLst/>
          </a:prstGeom>
          <a:solidFill>
            <a:srgbClr val="0B3C8C"/>
          </a:solidFill>
          <a:ln w="9525">
            <a:solidFill>
              <a:srgbClr val="D2DFED"/>
            </a:solidFill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819150" y="1695450"/>
            <a:ext cx="19431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特性</a:t>
            </a:r>
            <a:endParaRPr sz="12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2857500" y="1619250"/>
            <a:ext cx="2095500" cy="514350"/>
          </a:xfrm>
          <a:prstGeom prst="rect">
            <a:avLst/>
          </a:prstGeom>
          <a:solidFill>
            <a:srgbClr val="0B3C8C"/>
          </a:solidFill>
          <a:ln w="9525">
            <a:solidFill>
              <a:srgbClr val="D2DFED"/>
            </a:solidFill>
            <a:prstDash val="solid"/>
          </a:ln>
        </p:spPr>
      </p:sp>
      <p:sp>
        <p:nvSpPr>
          <p:cNvPr id="33" name="矩形 32"/>
          <p:cNvSpPr>
            <a:spLocks noGrp="1"/>
          </p:cNvSpPr>
          <p:nvPr/>
        </p:nvSpPr>
        <p:spPr>
          <a:xfrm>
            <a:off x="2952750" y="1695450"/>
            <a:ext cx="1905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AI深度生成模式</a:t>
            </a:r>
            <a:endParaRPr sz="12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4953000" y="1619250"/>
            <a:ext cx="2095500" cy="514350"/>
          </a:xfrm>
          <a:prstGeom prst="rect">
            <a:avLst/>
          </a:prstGeom>
          <a:solidFill>
            <a:srgbClr val="0B3C8C"/>
          </a:solidFill>
          <a:ln w="9525">
            <a:solidFill>
              <a:srgbClr val="D2DFED"/>
            </a:solidFill>
            <a:prstDash val="solid"/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5048250" y="1695450"/>
            <a:ext cx="1905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本地快速草稿模式</a:t>
            </a:r>
            <a:endParaRPr sz="12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723900" y="2133600"/>
            <a:ext cx="2133600" cy="514350"/>
          </a:xfrm>
          <a:prstGeom prst="rect">
            <a:avLst/>
          </a:prstGeom>
          <a:solidFill>
            <a:srgbClr val="F7FBF7"/>
          </a:solidFill>
          <a:ln w="9525">
            <a:solidFill>
              <a:srgbClr val="D2DFED"/>
            </a:solidFill>
            <a:prstDash val="solid"/>
          </a:ln>
        </p:spPr>
      </p:sp>
      <p:sp>
        <p:nvSpPr>
          <p:cNvPr id="37" name="矩形 36"/>
          <p:cNvSpPr>
            <a:spLocks noGrp="1"/>
          </p:cNvSpPr>
          <p:nvPr/>
        </p:nvSpPr>
        <p:spPr>
          <a:xfrm>
            <a:off x="819150" y="2209800"/>
            <a:ext cx="19431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125" b="1">
                <a:solidFill>
                  <a:srgbClr val="1B2430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API Key</a:t>
            </a:r>
            <a:endParaRPr sz="1125" b="1">
              <a:solidFill>
                <a:srgbClr val="1B243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2857500" y="2133600"/>
            <a:ext cx="2095500" cy="514350"/>
          </a:xfrm>
          <a:prstGeom prst="rect">
            <a:avLst/>
          </a:prstGeom>
          <a:solidFill>
            <a:srgbClr val="F2F8FF"/>
          </a:solidFill>
          <a:ln w="9525">
            <a:solidFill>
              <a:srgbClr val="D2DFED"/>
            </a:solidFill>
            <a:prstDash val="solid"/>
          </a:ln>
        </p:spPr>
      </p:sp>
      <p:sp>
        <p:nvSpPr>
          <p:cNvPr id="39" name="矩形 38"/>
          <p:cNvSpPr>
            <a:spLocks noGrp="1"/>
          </p:cNvSpPr>
          <p:nvPr/>
        </p:nvSpPr>
        <p:spPr>
          <a:xfrm>
            <a:off x="2952750" y="2209800"/>
            <a:ext cx="1905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125" b="0">
                <a:solidFill>
                  <a:srgbClr val="1B2430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需要</a:t>
            </a:r>
            <a:endParaRPr sz="1125" b="0">
              <a:solidFill>
                <a:srgbClr val="1B243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4953000" y="2133600"/>
            <a:ext cx="2095500" cy="514350"/>
          </a:xfrm>
          <a:prstGeom prst="rect">
            <a:avLst/>
          </a:prstGeom>
          <a:solidFill>
            <a:srgbClr val="F7FBF7"/>
          </a:solidFill>
          <a:ln w="9525">
            <a:solidFill>
              <a:srgbClr val="D2DFED"/>
            </a:solidFill>
            <a:prstDash val="solid"/>
          </a:ln>
        </p:spPr>
      </p:sp>
      <p:sp>
        <p:nvSpPr>
          <p:cNvPr id="41" name="矩形 40"/>
          <p:cNvSpPr>
            <a:spLocks noGrp="1"/>
          </p:cNvSpPr>
          <p:nvPr/>
        </p:nvSpPr>
        <p:spPr>
          <a:xfrm>
            <a:off x="5048250" y="2209800"/>
            <a:ext cx="1905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125" b="0">
                <a:solidFill>
                  <a:srgbClr val="1B2430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不需要</a:t>
            </a:r>
            <a:endParaRPr sz="1125" b="0">
              <a:solidFill>
                <a:srgbClr val="1B243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2" name="矩形 41"/>
          <p:cNvSpPr>
            <a:spLocks noGrp="1"/>
          </p:cNvSpPr>
          <p:nvPr/>
        </p:nvSpPr>
        <p:spPr>
          <a:xfrm>
            <a:off x="723900" y="2647950"/>
            <a:ext cx="2133600" cy="514350"/>
          </a:xfrm>
          <a:prstGeom prst="rect">
            <a:avLst/>
          </a:prstGeom>
          <a:solidFill>
            <a:srgbClr val="F7FBF7"/>
          </a:solidFill>
          <a:ln w="9525">
            <a:solidFill>
              <a:srgbClr val="D2DFED"/>
            </a:solidFill>
            <a:prstDash val="solid"/>
          </a:ln>
        </p:spPr>
      </p:sp>
      <p:sp>
        <p:nvSpPr>
          <p:cNvPr id="43" name="矩形 42"/>
          <p:cNvSpPr>
            <a:spLocks noGrp="1"/>
          </p:cNvSpPr>
          <p:nvPr/>
        </p:nvSpPr>
        <p:spPr>
          <a:xfrm>
            <a:off x="819150" y="2724150"/>
            <a:ext cx="19431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125" b="1">
                <a:solidFill>
                  <a:srgbClr val="1B2430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生成质量</a:t>
            </a:r>
            <a:endParaRPr sz="1125" b="1">
              <a:solidFill>
                <a:srgbClr val="1B243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4" name="矩形 43"/>
          <p:cNvSpPr>
            <a:spLocks noGrp="1"/>
          </p:cNvSpPr>
          <p:nvPr/>
        </p:nvSpPr>
        <p:spPr>
          <a:xfrm>
            <a:off x="2857500" y="2647950"/>
            <a:ext cx="2095500" cy="514350"/>
          </a:xfrm>
          <a:prstGeom prst="rect">
            <a:avLst/>
          </a:prstGeom>
          <a:solidFill>
            <a:srgbClr val="F2F8FF"/>
          </a:solidFill>
          <a:ln w="9525">
            <a:solidFill>
              <a:srgbClr val="D2DFED"/>
            </a:solidFill>
            <a:prstDash val="solid"/>
          </a:ln>
        </p:spPr>
      </p:sp>
      <p:sp>
        <p:nvSpPr>
          <p:cNvPr id="45" name="矩形 44"/>
          <p:cNvSpPr>
            <a:spLocks noGrp="1"/>
          </p:cNvSpPr>
          <p:nvPr/>
        </p:nvSpPr>
        <p:spPr>
          <a:xfrm>
            <a:off x="2952750" y="2724150"/>
            <a:ext cx="1905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125" b="0">
                <a:solidFill>
                  <a:srgbClr val="1B2430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高：内容完整丰富</a:t>
            </a:r>
            <a:endParaRPr sz="1125" b="0">
              <a:solidFill>
                <a:srgbClr val="1B243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6" name="矩形 45"/>
          <p:cNvSpPr>
            <a:spLocks noGrp="1"/>
          </p:cNvSpPr>
          <p:nvPr/>
        </p:nvSpPr>
        <p:spPr>
          <a:xfrm>
            <a:off x="4953000" y="2647950"/>
            <a:ext cx="2095500" cy="514350"/>
          </a:xfrm>
          <a:prstGeom prst="rect">
            <a:avLst/>
          </a:prstGeom>
          <a:solidFill>
            <a:srgbClr val="F7FBF7"/>
          </a:solidFill>
          <a:ln w="9525">
            <a:solidFill>
              <a:srgbClr val="D2DFED"/>
            </a:solidFill>
            <a:prstDash val="solid"/>
          </a:ln>
        </p:spPr>
      </p:sp>
      <p:sp>
        <p:nvSpPr>
          <p:cNvPr id="47" name="矩形 46"/>
          <p:cNvSpPr>
            <a:spLocks noGrp="1"/>
          </p:cNvSpPr>
          <p:nvPr/>
        </p:nvSpPr>
        <p:spPr>
          <a:xfrm>
            <a:off x="5048250" y="2724150"/>
            <a:ext cx="1905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125" b="0">
                <a:solidFill>
                  <a:srgbClr val="1B2430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基础：画面简洁</a:t>
            </a:r>
            <a:endParaRPr sz="1125" b="0">
              <a:solidFill>
                <a:srgbClr val="1B243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8" name="矩形 47"/>
          <p:cNvSpPr>
            <a:spLocks noGrp="1"/>
          </p:cNvSpPr>
          <p:nvPr/>
        </p:nvSpPr>
        <p:spPr>
          <a:xfrm>
            <a:off x="723900" y="3162300"/>
            <a:ext cx="2133600" cy="514350"/>
          </a:xfrm>
          <a:prstGeom prst="rect">
            <a:avLst/>
          </a:prstGeom>
          <a:solidFill>
            <a:srgbClr val="F7FBF7"/>
          </a:solidFill>
          <a:ln w="9525">
            <a:solidFill>
              <a:srgbClr val="D2DFED"/>
            </a:solidFill>
            <a:prstDash val="solid"/>
          </a:ln>
        </p:spPr>
      </p:sp>
      <p:sp>
        <p:nvSpPr>
          <p:cNvPr id="49" name="矩形 48"/>
          <p:cNvSpPr>
            <a:spLocks noGrp="1"/>
          </p:cNvSpPr>
          <p:nvPr/>
        </p:nvSpPr>
        <p:spPr>
          <a:xfrm>
            <a:off x="819150" y="3238500"/>
            <a:ext cx="19431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125" b="1">
                <a:solidFill>
                  <a:srgbClr val="1B2430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生成速度</a:t>
            </a:r>
            <a:endParaRPr sz="1125" b="1">
              <a:solidFill>
                <a:srgbClr val="1B243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0" name="矩形 49"/>
          <p:cNvSpPr>
            <a:spLocks noGrp="1"/>
          </p:cNvSpPr>
          <p:nvPr/>
        </p:nvSpPr>
        <p:spPr>
          <a:xfrm>
            <a:off x="2857500" y="3162300"/>
            <a:ext cx="2095500" cy="514350"/>
          </a:xfrm>
          <a:prstGeom prst="rect">
            <a:avLst/>
          </a:prstGeom>
          <a:solidFill>
            <a:srgbClr val="F2F8FF"/>
          </a:solidFill>
          <a:ln w="9525">
            <a:solidFill>
              <a:srgbClr val="D2DFED"/>
            </a:solidFill>
            <a:prstDash val="solid"/>
          </a:ln>
        </p:spPr>
      </p:sp>
      <p:sp>
        <p:nvSpPr>
          <p:cNvPr id="51" name="矩形 50"/>
          <p:cNvSpPr>
            <a:spLocks noGrp="1"/>
          </p:cNvSpPr>
          <p:nvPr/>
        </p:nvSpPr>
        <p:spPr>
          <a:xfrm>
            <a:off x="2952750" y="3238500"/>
            <a:ext cx="1905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125" b="0">
                <a:solidFill>
                  <a:srgbClr val="1B2430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约60-120秒</a:t>
            </a:r>
            <a:endParaRPr sz="1125" b="0">
              <a:solidFill>
                <a:srgbClr val="1B243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2" name="矩形 51"/>
          <p:cNvSpPr>
            <a:spLocks noGrp="1"/>
          </p:cNvSpPr>
          <p:nvPr/>
        </p:nvSpPr>
        <p:spPr>
          <a:xfrm>
            <a:off x="4953000" y="3162300"/>
            <a:ext cx="2095500" cy="514350"/>
          </a:xfrm>
          <a:prstGeom prst="rect">
            <a:avLst/>
          </a:prstGeom>
          <a:solidFill>
            <a:srgbClr val="F7FBF7"/>
          </a:solidFill>
          <a:ln w="9525">
            <a:solidFill>
              <a:srgbClr val="D2DFED"/>
            </a:solidFill>
            <a:prstDash val="solid"/>
          </a:ln>
        </p:spPr>
      </p:sp>
      <p:sp>
        <p:nvSpPr>
          <p:cNvPr id="53" name="矩形 52"/>
          <p:cNvSpPr>
            <a:spLocks noGrp="1"/>
          </p:cNvSpPr>
          <p:nvPr/>
        </p:nvSpPr>
        <p:spPr>
          <a:xfrm>
            <a:off x="5048250" y="3238500"/>
            <a:ext cx="1905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125" b="0">
                <a:solidFill>
                  <a:srgbClr val="1B2430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约5-10秒</a:t>
            </a:r>
            <a:endParaRPr sz="1125" b="0">
              <a:solidFill>
                <a:srgbClr val="1B243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4" name="矩形 53"/>
          <p:cNvSpPr>
            <a:spLocks noGrp="1"/>
          </p:cNvSpPr>
          <p:nvPr/>
        </p:nvSpPr>
        <p:spPr>
          <a:xfrm>
            <a:off x="723900" y="3676650"/>
            <a:ext cx="2133600" cy="514350"/>
          </a:xfrm>
          <a:prstGeom prst="rect">
            <a:avLst/>
          </a:prstGeom>
          <a:solidFill>
            <a:srgbClr val="F7FBF7"/>
          </a:solidFill>
          <a:ln w="9525">
            <a:solidFill>
              <a:srgbClr val="D2DFED"/>
            </a:solidFill>
            <a:prstDash val="solid"/>
          </a:ln>
        </p:spPr>
      </p:sp>
      <p:sp>
        <p:nvSpPr>
          <p:cNvPr id="55" name="矩形 54"/>
          <p:cNvSpPr>
            <a:spLocks noGrp="1"/>
          </p:cNvSpPr>
          <p:nvPr/>
        </p:nvSpPr>
        <p:spPr>
          <a:xfrm>
            <a:off x="819150" y="3752850"/>
            <a:ext cx="19431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125" b="1">
                <a:solidFill>
                  <a:srgbClr val="1B2430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适用场景</a:t>
            </a:r>
            <a:endParaRPr sz="1125" b="1">
              <a:solidFill>
                <a:srgbClr val="1B243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6" name="矩形 55"/>
          <p:cNvSpPr>
            <a:spLocks noGrp="1"/>
          </p:cNvSpPr>
          <p:nvPr/>
        </p:nvSpPr>
        <p:spPr>
          <a:xfrm>
            <a:off x="2857500" y="3676650"/>
            <a:ext cx="2095500" cy="514350"/>
          </a:xfrm>
          <a:prstGeom prst="rect">
            <a:avLst/>
          </a:prstGeom>
          <a:solidFill>
            <a:srgbClr val="F2F8FF"/>
          </a:solidFill>
          <a:ln w="9525">
            <a:solidFill>
              <a:srgbClr val="D2DFED"/>
            </a:solidFill>
            <a:prstDash val="solid"/>
          </a:ln>
        </p:spPr>
      </p:sp>
      <p:sp>
        <p:nvSpPr>
          <p:cNvPr id="57" name="矩形 56"/>
          <p:cNvSpPr>
            <a:spLocks noGrp="1"/>
          </p:cNvSpPr>
          <p:nvPr/>
        </p:nvSpPr>
        <p:spPr>
          <a:xfrm>
            <a:off x="2952750" y="3752850"/>
            <a:ext cx="1905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125" b="0">
                <a:solidFill>
                  <a:srgbClr val="1B2430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正式授课使用</a:t>
            </a:r>
            <a:endParaRPr sz="1125" b="0">
              <a:solidFill>
                <a:srgbClr val="1B243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8" name="矩形 57"/>
          <p:cNvSpPr>
            <a:spLocks noGrp="1"/>
          </p:cNvSpPr>
          <p:nvPr/>
        </p:nvSpPr>
        <p:spPr>
          <a:xfrm>
            <a:off x="4953000" y="3676650"/>
            <a:ext cx="2095500" cy="514350"/>
          </a:xfrm>
          <a:prstGeom prst="rect">
            <a:avLst/>
          </a:prstGeom>
          <a:solidFill>
            <a:srgbClr val="F7FBF7"/>
          </a:solidFill>
          <a:ln w="9525">
            <a:solidFill>
              <a:srgbClr val="D2DFED"/>
            </a:solidFill>
            <a:prstDash val="solid"/>
          </a:ln>
        </p:spPr>
      </p:sp>
      <p:sp>
        <p:nvSpPr>
          <p:cNvPr id="59" name="矩形 58"/>
          <p:cNvSpPr>
            <a:spLocks noGrp="1"/>
          </p:cNvSpPr>
          <p:nvPr/>
        </p:nvSpPr>
        <p:spPr>
          <a:xfrm>
            <a:off x="5048250" y="3752850"/>
            <a:ext cx="1905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125" b="0">
                <a:solidFill>
                  <a:srgbClr val="1B2430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快速测试流程</a:t>
            </a:r>
            <a:endParaRPr sz="1125" b="0">
              <a:solidFill>
                <a:srgbClr val="1B243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0" name="矩形 59"/>
          <p:cNvSpPr>
            <a:spLocks noGrp="1"/>
          </p:cNvSpPr>
          <p:nvPr/>
        </p:nvSpPr>
        <p:spPr>
          <a:xfrm>
            <a:off x="7715250" y="1219200"/>
            <a:ext cx="2286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0B3C8C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0B3C8C"/>
                </a:solidFill>
                <a:latin typeface="微软雅黑"/>
                <a:ea typeface="微软雅黑"/>
                <a:cs typeface="微软雅黑"/>
              </a:rPr>
              <a:t>多层容错保障</a:t>
            </a:r>
            <a:endParaRPr sz="1725" b="1">
              <a:solidFill>
                <a:srgbClr val="0B3C8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1" name="矩形 60"/>
          <p:cNvSpPr>
            <a:spLocks noGrp="1"/>
          </p:cNvSpPr>
          <p:nvPr/>
        </p:nvSpPr>
        <p:spPr>
          <a:xfrm>
            <a:off x="7658100" y="1676400"/>
            <a:ext cx="3333750" cy="895350"/>
          </a:xfrm>
          <a:prstGeom prst="rect">
            <a:avLst/>
          </a:prstGeom>
          <a:solidFill>
            <a:srgbClr val="FFFFFF"/>
          </a:solidFill>
          <a:ln w="19050">
            <a:solidFill>
              <a:srgbClr val="0072BC"/>
            </a:solidFill>
            <a:prstDash val="solid"/>
          </a:ln>
        </p:spPr>
      </p:sp>
      <p:sp>
        <p:nvSpPr>
          <p:cNvPr id="62" name="矩形 61"/>
          <p:cNvSpPr>
            <a:spLocks noGrp="1"/>
          </p:cNvSpPr>
          <p:nvPr/>
        </p:nvSpPr>
        <p:spPr>
          <a:xfrm>
            <a:off x="7848600" y="1800225"/>
            <a:ext cx="1047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0072BC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0072BC"/>
                </a:solidFill>
                <a:latin typeface="微软雅黑"/>
                <a:ea typeface="微软雅黑"/>
                <a:cs typeface="微软雅黑"/>
              </a:rPr>
              <a:t>代码级别</a:t>
            </a:r>
            <a:endParaRPr sz="1425" b="1">
              <a:solidFill>
                <a:srgbClr val="0072B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3" name="矩形 62"/>
          <p:cNvSpPr>
            <a:spLocks noGrp="1"/>
          </p:cNvSpPr>
          <p:nvPr/>
        </p:nvSpPr>
        <p:spPr>
          <a:xfrm>
            <a:off x="7848600" y="2085975"/>
            <a:ext cx="28765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B2430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AST静态语法验证 → 自动修复循环（≤3轮）</a:t>
            </a:r>
            <a:endParaRPr sz="1125" b="0">
              <a:solidFill>
                <a:srgbClr val="1B243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4" name="下箭头 63"/>
          <p:cNvSpPr>
            <a:spLocks noGrp="1"/>
          </p:cNvSpPr>
          <p:nvPr/>
        </p:nvSpPr>
        <p:spPr>
          <a:xfrm>
            <a:off x="9201150" y="2628900"/>
            <a:ext cx="247650" cy="266700"/>
          </a:xfrm>
          <a:prstGeom prst="downArrow">
            <a:avLst/>
          </a:prstGeom>
          <a:solidFill>
            <a:srgbClr val="0072B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" name="矩形 64"/>
          <p:cNvSpPr>
            <a:spLocks noGrp="1"/>
          </p:cNvSpPr>
          <p:nvPr/>
        </p:nvSpPr>
        <p:spPr>
          <a:xfrm>
            <a:off x="7658100" y="2933700"/>
            <a:ext cx="3333750" cy="895350"/>
          </a:xfrm>
          <a:prstGeom prst="rect">
            <a:avLst/>
          </a:prstGeom>
          <a:solidFill>
            <a:srgbClr val="FFFFFF"/>
          </a:solidFill>
          <a:ln w="19050">
            <a:solidFill>
              <a:srgbClr val="F39B2F"/>
            </a:solidFill>
            <a:prstDash val="solid"/>
          </a:ln>
        </p:spPr>
      </p:sp>
      <p:sp>
        <p:nvSpPr>
          <p:cNvPr id="66" name="矩形 65"/>
          <p:cNvSpPr>
            <a:spLocks noGrp="1"/>
          </p:cNvSpPr>
          <p:nvPr/>
        </p:nvSpPr>
        <p:spPr>
          <a:xfrm>
            <a:off x="7848600" y="3057525"/>
            <a:ext cx="1047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F39B2F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F39B2F"/>
                </a:solidFill>
                <a:latin typeface="微软雅黑"/>
                <a:ea typeface="微软雅黑"/>
                <a:cs typeface="微软雅黑"/>
              </a:rPr>
              <a:t>渲染级别</a:t>
            </a:r>
            <a:endParaRPr sz="1425" b="1">
              <a:solidFill>
                <a:srgbClr val="F39B2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7" name="矩形 66"/>
          <p:cNvSpPr>
            <a:spLocks noGrp="1"/>
          </p:cNvSpPr>
          <p:nvPr/>
        </p:nvSpPr>
        <p:spPr>
          <a:xfrm>
            <a:off x="7848600" y="3343275"/>
            <a:ext cx="28765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B2430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Manim渲染失败 → 错误反馈修复（≤3轮）</a:t>
            </a:r>
            <a:endParaRPr sz="1125" b="0">
              <a:solidFill>
                <a:srgbClr val="1B243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8" name="下箭头 67"/>
          <p:cNvSpPr>
            <a:spLocks noGrp="1"/>
          </p:cNvSpPr>
          <p:nvPr/>
        </p:nvSpPr>
        <p:spPr>
          <a:xfrm>
            <a:off x="9201150" y="3886200"/>
            <a:ext cx="247650" cy="266700"/>
          </a:xfrm>
          <a:prstGeom prst="downArrow">
            <a:avLst/>
          </a:prstGeom>
          <a:solidFill>
            <a:srgbClr val="F39B2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" name="矩形 68"/>
          <p:cNvSpPr>
            <a:spLocks noGrp="1"/>
          </p:cNvSpPr>
          <p:nvPr/>
        </p:nvSpPr>
        <p:spPr>
          <a:xfrm>
            <a:off x="7658100" y="4191000"/>
            <a:ext cx="3333750" cy="895350"/>
          </a:xfrm>
          <a:prstGeom prst="rect">
            <a:avLst/>
          </a:prstGeom>
          <a:solidFill>
            <a:srgbClr val="FFFFFF"/>
          </a:solidFill>
          <a:ln w="19050">
            <a:solidFill>
              <a:srgbClr val="2EAD6B"/>
            </a:solidFill>
            <a:prstDash val="solid"/>
          </a:ln>
        </p:spPr>
      </p:sp>
      <p:sp>
        <p:nvSpPr>
          <p:cNvPr id="70" name="矩形 69"/>
          <p:cNvSpPr>
            <a:spLocks noGrp="1"/>
          </p:cNvSpPr>
          <p:nvPr/>
        </p:nvSpPr>
        <p:spPr>
          <a:xfrm>
            <a:off x="7848600" y="4314825"/>
            <a:ext cx="1047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2EAD6B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2EAD6B"/>
                </a:solidFill>
                <a:latin typeface="微软雅黑"/>
                <a:ea typeface="微软雅黑"/>
                <a:cs typeface="微软雅黑"/>
              </a:rPr>
              <a:t>资源级别</a:t>
            </a:r>
            <a:endParaRPr sz="1425" b="1">
              <a:solidFill>
                <a:srgbClr val="2EAD6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1" name="矩形 70"/>
          <p:cNvSpPr>
            <a:spLocks noGrp="1"/>
          </p:cNvSpPr>
          <p:nvPr/>
        </p:nvSpPr>
        <p:spPr>
          <a:xfrm>
            <a:off x="7848600" y="4600575"/>
            <a:ext cx="28765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B2430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LaTeX降级、AI失败回退、ffmpeg安装引导</a:t>
            </a:r>
            <a:endParaRPr sz="1125" b="0">
              <a:solidFill>
                <a:srgbClr val="1B2430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5" name="五边形 4"/>
          <p:cNvSpPr>
            <a:spLocks noGrp="1"/>
          </p:cNvSpPr>
          <p:nvPr/>
        </p:nvSpPr>
        <p:spPr>
          <a:xfrm>
            <a:off x="250825" y="1392555"/>
            <a:ext cx="2316480" cy="4203700"/>
          </a:xfrm>
          <a:prstGeom prst="homePlate">
            <a:avLst>
              <a:gd name="adj" fmla="val 28927"/>
            </a:avLst>
          </a:prstGeom>
          <a:solidFill>
            <a:srgbClr val="2F559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</a:p>
        </p:txBody>
      </p:sp>
      <p:sp>
        <p:nvSpPr>
          <p:cNvPr id="41" name="五边形 40"/>
          <p:cNvSpPr>
            <a:spLocks noGrp="1"/>
          </p:cNvSpPr>
          <p:nvPr/>
        </p:nvSpPr>
        <p:spPr>
          <a:xfrm rot="10800000">
            <a:off x="0" y="1392555"/>
            <a:ext cx="194310" cy="4203700"/>
          </a:xfrm>
          <a:prstGeom prst="homePlate">
            <a:avLst>
              <a:gd name="adj" fmla="val 0"/>
            </a:avLst>
          </a:prstGeom>
          <a:solidFill>
            <a:srgbClr val="3E56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</a:p>
        </p:txBody>
      </p:sp>
      <p:sp>
        <p:nvSpPr>
          <p:cNvPr id="72" name="矩形 71"/>
          <p:cNvSpPr>
            <a:spLocks noGrp="1"/>
          </p:cNvSpPr>
          <p:nvPr/>
        </p:nvSpPr>
        <p:spPr>
          <a:xfrm>
            <a:off x="10801350" y="6496050"/>
            <a:ext cx="857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7E8CA0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7E8CA0"/>
                </a:solidFill>
                <a:latin typeface="微软雅黑"/>
                <a:ea typeface="微软雅黑"/>
                <a:cs typeface="微软雅黑"/>
              </a:rPr>
              <a:t>0</a:t>
            </a:r>
            <a:r>
              <a:rPr lang="en-US" sz="900" b="0">
                <a:solidFill>
                  <a:srgbClr val="7E8CA0"/>
                </a:solidFill>
                <a:latin typeface="微软雅黑"/>
                <a:ea typeface="微软雅黑"/>
                <a:cs typeface="微软雅黑"/>
              </a:rPr>
              <a:t>7</a:t>
            </a:r>
            <a:r>
              <a:rPr sz="900" b="0">
                <a:solidFill>
                  <a:srgbClr val="7E8CA0"/>
                </a:solidFill>
                <a:latin typeface="微软雅黑"/>
                <a:ea typeface="微软雅黑"/>
                <a:cs typeface="微软雅黑"/>
              </a:rPr>
              <a:t> / 1</a:t>
            </a:r>
            <a:r>
              <a:rPr lang="en-US" sz="900" b="0">
                <a:solidFill>
                  <a:srgbClr val="7E8CA0"/>
                </a:solidFill>
                <a:latin typeface="微软雅黑"/>
                <a:ea typeface="微软雅黑"/>
                <a:cs typeface="微软雅黑"/>
              </a:rPr>
              <a:t>2</a:t>
            </a:r>
            <a:endParaRPr lang="en-US" sz="900" b="0">
              <a:solidFill>
                <a:srgbClr val="7E8CA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3" name="矩形 72"/>
          <p:cNvSpPr>
            <a:spLocks noGrp="1"/>
          </p:cNvSpPr>
          <p:nvPr/>
        </p:nvSpPr>
        <p:spPr>
          <a:xfrm>
            <a:off x="762000" y="1952625"/>
            <a:ext cx="952500" cy="2286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3150" b="1">
                <a:solidFill>
                  <a:srgbClr val="FFFFFF"/>
                </a:solidFill>
                <a:latin typeface="KaiTi"/>
                <a:ea typeface="KaiTi"/>
                <a:cs typeface="KaiTi"/>
              </a:defRPr>
            </a:pPr>
            <a:r>
              <a:rPr sz="3150" b="1">
                <a:solidFill>
                  <a:srgbClr val="FFFFFF"/>
                </a:solidFill>
                <a:latin typeface="KaiTi"/>
                <a:ea typeface="KaiTi"/>
                <a:cs typeface="KaiTi"/>
              </a:rPr>
              <a:t>应</a:t>
            </a:r>
            <a:endParaRPr sz="3150" b="1">
              <a:solidFill>
                <a:srgbClr val="FFFFFF"/>
              </a:solidFill>
              <a:latin typeface="KaiTi"/>
              <a:ea typeface="KaiTi"/>
              <a:cs typeface="KaiTi"/>
            </a:endParaRPr>
          </a:p>
          <a:p>
            <a:pPr algn="ctr">
              <a:defRPr sz="3150" b="1">
                <a:solidFill>
                  <a:srgbClr val="FFFFFF"/>
                </a:solidFill>
                <a:latin typeface="KaiTi"/>
                <a:ea typeface="KaiTi"/>
                <a:cs typeface="KaiTi"/>
              </a:defRPr>
            </a:pPr>
            <a:r>
              <a:rPr sz="3150" b="1">
                <a:solidFill>
                  <a:srgbClr val="FFFFFF"/>
                </a:solidFill>
                <a:latin typeface="KaiTi"/>
                <a:ea typeface="KaiTi"/>
                <a:cs typeface="KaiTi"/>
              </a:rPr>
              <a:t>用</a:t>
            </a:r>
            <a:endParaRPr sz="3150" b="1">
              <a:solidFill>
                <a:srgbClr val="FFFFFF"/>
              </a:solidFill>
              <a:latin typeface="KaiTi"/>
              <a:ea typeface="KaiTi"/>
              <a:cs typeface="KaiTi"/>
            </a:endParaRPr>
          </a:p>
          <a:p>
            <a:pPr algn="ctr">
              <a:defRPr sz="3150" b="1">
                <a:solidFill>
                  <a:srgbClr val="FFFFFF"/>
                </a:solidFill>
                <a:latin typeface="KaiTi"/>
                <a:ea typeface="KaiTi"/>
                <a:cs typeface="KaiTi"/>
              </a:defRPr>
            </a:pPr>
            <a:r>
              <a:rPr sz="3150" b="1">
                <a:solidFill>
                  <a:srgbClr val="FFFFFF"/>
                </a:solidFill>
                <a:latin typeface="KaiTi"/>
                <a:ea typeface="KaiTi"/>
                <a:cs typeface="KaiTi"/>
              </a:rPr>
              <a:t>展</a:t>
            </a:r>
            <a:endParaRPr sz="3150" b="1">
              <a:solidFill>
                <a:srgbClr val="FFFFFF"/>
              </a:solidFill>
              <a:latin typeface="KaiTi"/>
              <a:ea typeface="KaiTi"/>
              <a:cs typeface="KaiTi"/>
            </a:endParaRPr>
          </a:p>
          <a:p>
            <a:pPr algn="ctr">
              <a:defRPr sz="3150" b="1">
                <a:solidFill>
                  <a:srgbClr val="FFFFFF"/>
                </a:solidFill>
                <a:latin typeface="KaiTi"/>
                <a:ea typeface="KaiTi"/>
                <a:cs typeface="KaiTi"/>
              </a:defRPr>
            </a:pPr>
            <a:r>
              <a:rPr sz="3150" b="1">
                <a:solidFill>
                  <a:srgbClr val="FFFFFF"/>
                </a:solidFill>
                <a:latin typeface="KaiTi"/>
                <a:ea typeface="KaiTi"/>
                <a:cs typeface="KaiTi"/>
              </a:rPr>
              <a:t>示</a:t>
            </a:r>
            <a:endParaRPr sz="3150" b="1">
              <a:solidFill>
                <a:srgbClr val="FFFFFF"/>
              </a:solidFill>
              <a:latin typeface="KaiTi"/>
              <a:ea typeface="KaiTi"/>
              <a:cs typeface="KaiTi"/>
            </a:endParaRPr>
          </a:p>
        </p:txBody>
      </p:sp>
      <p:sp>
        <p:nvSpPr>
          <p:cNvPr id="74" name="矩形 73"/>
          <p:cNvSpPr>
            <a:spLocks noGrp="1"/>
          </p:cNvSpPr>
          <p:nvPr/>
        </p:nvSpPr>
        <p:spPr>
          <a:xfrm>
            <a:off x="4000500" y="1714500"/>
            <a:ext cx="47625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3750" b="1">
                <a:solidFill>
                  <a:srgbClr val="0B3C8C"/>
                </a:solidFill>
                <a:latin typeface="KaiTi"/>
                <a:ea typeface="KaiTi"/>
                <a:cs typeface="KaiTi"/>
              </a:defRPr>
            </a:pPr>
            <a:r>
              <a:rPr sz="3750" b="1">
                <a:solidFill>
                  <a:srgbClr val="0B3C8C"/>
                </a:solidFill>
                <a:latin typeface="KaiTi"/>
                <a:ea typeface="KaiTi"/>
                <a:cs typeface="KaiTi"/>
              </a:rPr>
              <a:t>应用展示</a:t>
            </a:r>
            <a:endParaRPr sz="3750" b="1">
              <a:solidFill>
                <a:srgbClr val="0B3C8C"/>
              </a:solidFill>
              <a:latin typeface="KaiTi"/>
              <a:ea typeface="KaiTi"/>
              <a:cs typeface="KaiTi"/>
            </a:endParaRPr>
          </a:p>
        </p:txBody>
      </p:sp>
      <p:sp>
        <p:nvSpPr>
          <p:cNvPr id="75" name="矩形 74"/>
          <p:cNvSpPr>
            <a:spLocks noGrp="1"/>
          </p:cNvSpPr>
          <p:nvPr/>
        </p:nvSpPr>
        <p:spPr>
          <a:xfrm>
            <a:off x="4095750" y="2419350"/>
            <a:ext cx="4572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75" b="0">
                <a:solidFill>
                  <a:srgbClr val="1B243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中学数学教学案例实演</a:t>
            </a:r>
            <a:endParaRPr sz="1875" b="0">
              <a:solidFill>
                <a:srgbClr val="1B243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6" name="椭圆 75"/>
          <p:cNvSpPr>
            <a:spLocks noGrp="1"/>
          </p:cNvSpPr>
          <p:nvPr/>
        </p:nvSpPr>
        <p:spPr>
          <a:xfrm>
            <a:off x="3333750" y="3371850"/>
            <a:ext cx="742950" cy="742950"/>
          </a:xfrm>
          <a:prstGeom prst="ellipse">
            <a:avLst/>
          </a:prstGeom>
          <a:solidFill>
            <a:srgbClr val="1F5EA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7" name="矩形 76"/>
          <p:cNvSpPr>
            <a:spLocks noGrp="1"/>
          </p:cNvSpPr>
          <p:nvPr/>
        </p:nvSpPr>
        <p:spPr>
          <a:xfrm>
            <a:off x="3371850" y="3657600"/>
            <a:ext cx="666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提示词</a:t>
            </a:r>
            <a:endParaRPr sz="15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8" name="矩形 77"/>
          <p:cNvSpPr>
            <a:spLocks noGrp="1"/>
          </p:cNvSpPr>
          <p:nvPr/>
        </p:nvSpPr>
        <p:spPr>
          <a:xfrm>
            <a:off x="3124200" y="4267200"/>
            <a:ext cx="11811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0">
                <a:solidFill>
                  <a:srgbClr val="1B2430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自然语言描述教学目标</a:t>
            </a:r>
            <a:endParaRPr sz="1200" b="0">
              <a:solidFill>
                <a:srgbClr val="1B243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9" name="右箭头 78"/>
          <p:cNvSpPr>
            <a:spLocks noGrp="1"/>
          </p:cNvSpPr>
          <p:nvPr/>
        </p:nvSpPr>
        <p:spPr>
          <a:xfrm>
            <a:off x="4191000" y="3657600"/>
            <a:ext cx="571500" cy="209550"/>
          </a:xfrm>
          <a:prstGeom prst="rightArrow">
            <a:avLst/>
          </a:prstGeom>
          <a:solidFill>
            <a:srgbClr val="0072B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0" name="椭圆 79"/>
          <p:cNvSpPr>
            <a:spLocks noGrp="1"/>
          </p:cNvSpPr>
          <p:nvPr/>
        </p:nvSpPr>
        <p:spPr>
          <a:xfrm>
            <a:off x="5086350" y="3371850"/>
            <a:ext cx="742950" cy="742950"/>
          </a:xfrm>
          <a:prstGeom prst="ellipse">
            <a:avLst/>
          </a:prstGeom>
          <a:solidFill>
            <a:srgbClr val="1F5EA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1" name="矩形 80"/>
          <p:cNvSpPr>
            <a:spLocks noGrp="1"/>
          </p:cNvSpPr>
          <p:nvPr/>
        </p:nvSpPr>
        <p:spPr>
          <a:xfrm>
            <a:off x="5124450" y="3657600"/>
            <a:ext cx="666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分镜</a:t>
            </a:r>
            <a:endParaRPr sz="15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2" name="矩形 81"/>
          <p:cNvSpPr>
            <a:spLocks noGrp="1"/>
          </p:cNvSpPr>
          <p:nvPr/>
        </p:nvSpPr>
        <p:spPr>
          <a:xfrm>
            <a:off x="4876800" y="4267200"/>
            <a:ext cx="11811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0">
                <a:solidFill>
                  <a:srgbClr val="1B2430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AI拆分画面与动画节奏</a:t>
            </a:r>
            <a:endParaRPr sz="1200" b="0">
              <a:solidFill>
                <a:srgbClr val="1B243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3" name="右箭头 82"/>
          <p:cNvSpPr>
            <a:spLocks noGrp="1"/>
          </p:cNvSpPr>
          <p:nvPr/>
        </p:nvSpPr>
        <p:spPr>
          <a:xfrm>
            <a:off x="5943600" y="3657600"/>
            <a:ext cx="571500" cy="209550"/>
          </a:xfrm>
          <a:prstGeom prst="rightArrow">
            <a:avLst/>
          </a:prstGeom>
          <a:solidFill>
            <a:srgbClr val="0072B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4" name="椭圆 83"/>
          <p:cNvSpPr>
            <a:spLocks noGrp="1"/>
          </p:cNvSpPr>
          <p:nvPr/>
        </p:nvSpPr>
        <p:spPr>
          <a:xfrm>
            <a:off x="6838950" y="3371850"/>
            <a:ext cx="742950" cy="742950"/>
          </a:xfrm>
          <a:prstGeom prst="ellipse">
            <a:avLst/>
          </a:prstGeom>
          <a:solidFill>
            <a:srgbClr val="2EAD6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5" name="矩形 84"/>
          <p:cNvSpPr>
            <a:spLocks noGrp="1"/>
          </p:cNvSpPr>
          <p:nvPr/>
        </p:nvSpPr>
        <p:spPr>
          <a:xfrm>
            <a:off x="6877050" y="3657600"/>
            <a:ext cx="666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渲染</a:t>
            </a:r>
            <a:endParaRPr sz="15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6" name="矩形 85"/>
          <p:cNvSpPr>
            <a:spLocks noGrp="1"/>
          </p:cNvSpPr>
          <p:nvPr/>
        </p:nvSpPr>
        <p:spPr>
          <a:xfrm>
            <a:off x="6629400" y="4267200"/>
            <a:ext cx="11811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0">
                <a:solidFill>
                  <a:srgbClr val="1B2430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Manim CE输出可播放视频</a:t>
            </a:r>
            <a:endParaRPr sz="1200" b="0">
              <a:solidFill>
                <a:srgbClr val="1B243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7" name="右箭头 86"/>
          <p:cNvSpPr>
            <a:spLocks noGrp="1"/>
          </p:cNvSpPr>
          <p:nvPr/>
        </p:nvSpPr>
        <p:spPr>
          <a:xfrm>
            <a:off x="7696200" y="3657600"/>
            <a:ext cx="571500" cy="209550"/>
          </a:xfrm>
          <a:prstGeom prst="rightArrow">
            <a:avLst/>
          </a:prstGeom>
          <a:solidFill>
            <a:srgbClr val="0072B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8" name="椭圆 87"/>
          <p:cNvSpPr>
            <a:spLocks noGrp="1"/>
          </p:cNvSpPr>
          <p:nvPr/>
        </p:nvSpPr>
        <p:spPr>
          <a:xfrm>
            <a:off x="8591550" y="3371850"/>
            <a:ext cx="742950" cy="742950"/>
          </a:xfrm>
          <a:prstGeom prst="ellipse">
            <a:avLst/>
          </a:prstGeom>
          <a:solidFill>
            <a:srgbClr val="1F5EA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9" name="矩形 88"/>
          <p:cNvSpPr>
            <a:spLocks noGrp="1"/>
          </p:cNvSpPr>
          <p:nvPr/>
        </p:nvSpPr>
        <p:spPr>
          <a:xfrm>
            <a:off x="8629650" y="3657600"/>
            <a:ext cx="666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课堂</a:t>
            </a:r>
            <a:endParaRPr sz="15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0" name="矩形 89"/>
          <p:cNvSpPr>
            <a:spLocks noGrp="1"/>
          </p:cNvSpPr>
          <p:nvPr/>
        </p:nvSpPr>
        <p:spPr>
          <a:xfrm>
            <a:off x="8382000" y="4267200"/>
            <a:ext cx="11811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0">
                <a:solidFill>
                  <a:srgbClr val="1B2430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抽象证明转为可视化过程</a:t>
            </a:r>
            <a:endParaRPr sz="1200" b="0">
              <a:solidFill>
                <a:srgbClr val="1B2430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5" name="五边形 24"/>
          <p:cNvSpPr>
            <a:spLocks noGrp="1"/>
          </p:cNvSpPr>
          <p:nvPr/>
        </p:nvSpPr>
        <p:spPr>
          <a:xfrm rot="10800000">
            <a:off x="9714230" y="0"/>
            <a:ext cx="2477770" cy="982345"/>
          </a:xfrm>
          <a:prstGeom prst="homePlate">
            <a:avLst>
              <a:gd name="adj" fmla="val 35482"/>
            </a:avLst>
          </a:pr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10801350" y="6496050"/>
            <a:ext cx="857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7E8CA0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7E8CA0"/>
                </a:solidFill>
                <a:latin typeface="微软雅黑"/>
                <a:ea typeface="微软雅黑"/>
                <a:cs typeface="微软雅黑"/>
              </a:rPr>
              <a:t>0</a:t>
            </a:r>
            <a:r>
              <a:rPr lang="en-US" sz="900" b="0">
                <a:solidFill>
                  <a:srgbClr val="7E8CA0"/>
                </a:solidFill>
                <a:latin typeface="微软雅黑"/>
                <a:ea typeface="微软雅黑"/>
                <a:cs typeface="微软雅黑"/>
              </a:rPr>
              <a:t>8</a:t>
            </a:r>
            <a:r>
              <a:rPr sz="900" b="0">
                <a:solidFill>
                  <a:srgbClr val="7E8CA0"/>
                </a:solidFill>
                <a:latin typeface="微软雅黑"/>
                <a:ea typeface="微软雅黑"/>
                <a:cs typeface="微软雅黑"/>
              </a:rPr>
              <a:t> / 1</a:t>
            </a:r>
            <a:r>
              <a:rPr lang="en-US" sz="900" b="0">
                <a:solidFill>
                  <a:srgbClr val="7E8CA0"/>
                </a:solidFill>
                <a:latin typeface="微软雅黑"/>
                <a:ea typeface="微软雅黑"/>
                <a:cs typeface="微软雅黑"/>
              </a:rPr>
              <a:t>2</a:t>
            </a:r>
            <a:endParaRPr lang="en-US" sz="900" b="0">
              <a:solidFill>
                <a:srgbClr val="7E8CA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552450" y="276225"/>
            <a:ext cx="91440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2400" b="1">
                <a:solidFill>
                  <a:srgbClr val="FFFFFF"/>
                </a:solidFill>
                <a:latin typeface="KaiTi"/>
                <a:ea typeface="KaiTi"/>
                <a:cs typeface="KaiTi"/>
              </a:defRPr>
            </a:pPr>
            <a:r>
              <a:rPr sz="2400" b="1">
                <a:solidFill>
                  <a:srgbClr val="FFFFFF"/>
                </a:solidFill>
                <a:latin typeface="KaiTi"/>
                <a:ea typeface="KaiTi"/>
                <a:cs typeface="KaiTi"/>
              </a:rPr>
              <a:t>一、</a:t>
            </a:r>
            <a:r>
              <a:rPr lang="zh-CN" sz="2400" b="1">
                <a:solidFill>
                  <a:srgbClr val="FFFFFF"/>
                </a:solidFill>
                <a:latin typeface="KaiTi"/>
                <a:ea typeface="KaiTi"/>
                <a:cs typeface="KaiTi"/>
              </a:rPr>
              <a:t>动画</a:t>
            </a:r>
            <a:r>
              <a:rPr sz="2400" b="1">
                <a:solidFill>
                  <a:srgbClr val="FFFFFF"/>
                </a:solidFill>
                <a:latin typeface="KaiTi"/>
                <a:ea typeface="KaiTi"/>
                <a:cs typeface="KaiTi"/>
              </a:rPr>
              <a:t>案例</a:t>
            </a:r>
            <a:r>
              <a:rPr lang="en-US" sz="2400" b="1">
                <a:solidFill>
                  <a:srgbClr val="FFFFFF"/>
                </a:solidFill>
                <a:latin typeface="KaiTi"/>
                <a:ea typeface="KaiTi"/>
                <a:cs typeface="KaiTi"/>
              </a:rPr>
              <a:t>（</a:t>
            </a:r>
            <a:r>
              <a:rPr>
                <a:sym typeface="+mn-ea"/>
              </a:rPr>
              <a:t>勾股定理</a:t>
            </a:r>
            <a:r>
              <a:rPr lang="en-US" sz="2400" b="1">
                <a:solidFill>
                  <a:srgbClr val="FFFFFF"/>
                </a:solidFill>
                <a:latin typeface="KaiTi"/>
                <a:ea typeface="KaiTi"/>
                <a:cs typeface="KaiTi"/>
              </a:rPr>
              <a:t>）</a:t>
            </a:r>
            <a:endParaRPr lang="en-US" sz="2400" b="1">
              <a:solidFill>
                <a:srgbClr val="FFFFFF"/>
              </a:solidFill>
              <a:latin typeface="KaiTi"/>
              <a:ea typeface="KaiTi"/>
              <a:cs typeface="KaiTi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10306050" y="285750"/>
            <a:ext cx="15240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800" b="1">
                <a:solidFill>
                  <a:srgbClr val="0B3C8C"/>
                </a:solidFill>
                <a:latin typeface="KaiTi"/>
                <a:ea typeface="KaiTi"/>
                <a:cs typeface="KaiTi"/>
              </a:defRPr>
            </a:pPr>
            <a:r>
              <a:rPr sz="1800" b="1">
                <a:solidFill>
                  <a:srgbClr val="0B3C8C"/>
                </a:solidFill>
                <a:latin typeface="KaiTi"/>
                <a:ea typeface="KaiTi"/>
                <a:cs typeface="KaiTi"/>
              </a:rPr>
              <a:t>应用展示</a:t>
            </a:r>
            <a:r>
              <a:rPr lang="en-US" sz="1800" b="1">
                <a:solidFill>
                  <a:srgbClr val="0B3C8C"/>
                </a:solidFill>
                <a:latin typeface="KaiTi"/>
                <a:ea typeface="KaiTi"/>
                <a:cs typeface="KaiTi"/>
              </a:rPr>
              <a:t>1</a:t>
            </a:r>
            <a:endParaRPr lang="en-US" sz="1800" b="1">
              <a:solidFill>
                <a:srgbClr val="0B3C8C"/>
              </a:solidFill>
              <a:latin typeface="KaiTi"/>
              <a:ea typeface="KaiTi"/>
              <a:cs typeface="KaiTi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742950" y="1200150"/>
            <a:ext cx="2476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0B3C8C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0B3C8C"/>
                </a:solidFill>
                <a:latin typeface="微软雅黑"/>
                <a:ea typeface="微软雅黑"/>
                <a:cs typeface="微软雅黑"/>
              </a:rPr>
              <a:t>教师输入提示词（精简版）</a:t>
            </a:r>
            <a:endParaRPr sz="1500" b="1">
              <a:solidFill>
                <a:srgbClr val="0B3C8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742950" y="1504950"/>
            <a:ext cx="4495800" cy="819150"/>
          </a:xfrm>
          <a:prstGeom prst="rect">
            <a:avLst/>
          </a:prstGeom>
          <a:solidFill>
            <a:srgbClr val="F7FBFF"/>
          </a:solidFill>
          <a:ln w="9525">
            <a:solidFill>
              <a:srgbClr val="C5D9EE"/>
            </a:solidFill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933450" y="1695450"/>
            <a:ext cx="41148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B2430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“用面积动画展示勾股定理，通过正方形面积拼接展示证明过程。适合初中生。风格：极简几何。”</a:t>
            </a:r>
            <a:endParaRPr sz="1275" b="0">
              <a:solidFill>
                <a:srgbClr val="1B243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742950" y="2609850"/>
            <a:ext cx="27241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0B3C8C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0B3C8C"/>
                </a:solidFill>
                <a:latin typeface="微软雅黑"/>
                <a:ea typeface="微软雅黑"/>
                <a:cs typeface="微软雅黑"/>
              </a:rPr>
              <a:t>AI生成动画内容（4步场景）</a:t>
            </a:r>
            <a:endParaRPr sz="1500" b="1">
              <a:solidFill>
                <a:srgbClr val="0B3C8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742950" y="2914650"/>
            <a:ext cx="4495800" cy="476250"/>
          </a:xfrm>
          <a:prstGeom prst="rect">
            <a:avLst/>
          </a:prstGeom>
          <a:solidFill>
            <a:srgbClr val="F2F7FC"/>
          </a:solidFill>
          <a:ln w="9525">
            <a:solidFill>
              <a:srgbClr val="D4E2EF"/>
            </a:solidFill>
            <a:prstDash val="solid"/>
          </a:ln>
        </p:spPr>
      </p:sp>
      <p:sp>
        <p:nvSpPr>
          <p:cNvPr id="34" name="椭圆 33"/>
          <p:cNvSpPr>
            <a:spLocks noGrp="1"/>
          </p:cNvSpPr>
          <p:nvPr/>
        </p:nvSpPr>
        <p:spPr>
          <a:xfrm>
            <a:off x="857250" y="3000375"/>
            <a:ext cx="323850" cy="266700"/>
          </a:xfrm>
          <a:prstGeom prst="ellipse">
            <a:avLst/>
          </a:prstGeom>
          <a:solidFill>
            <a:srgbClr val="1F5EA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2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  <a:endParaRPr sz="1275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1314450" y="3019425"/>
            <a:ext cx="23241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B2430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直角三角形 + 边长标注</a:t>
            </a:r>
            <a:endParaRPr sz="1200" b="1">
              <a:solidFill>
                <a:srgbClr val="1B243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3790950" y="3019425"/>
            <a:ext cx="12001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0">
                <a:solidFill>
                  <a:srgbClr val="0072BC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0072BC"/>
                </a:solidFill>
                <a:latin typeface="微软雅黑"/>
                <a:ea typeface="微软雅黑"/>
                <a:cs typeface="微软雅黑"/>
              </a:rPr>
              <a:t>线条渐显</a:t>
            </a:r>
            <a:endParaRPr sz="1200" b="0">
              <a:solidFill>
                <a:srgbClr val="0072B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742950" y="3429000"/>
            <a:ext cx="4495800" cy="476250"/>
          </a:xfrm>
          <a:prstGeom prst="rect">
            <a:avLst/>
          </a:prstGeom>
          <a:solidFill>
            <a:srgbClr val="FFFFFF"/>
          </a:solidFill>
          <a:ln w="9525">
            <a:solidFill>
              <a:srgbClr val="D4E2EF"/>
            </a:solidFill>
            <a:prstDash val="solid"/>
          </a:ln>
        </p:spPr>
      </p:sp>
      <p:sp>
        <p:nvSpPr>
          <p:cNvPr id="38" name="椭圆 37"/>
          <p:cNvSpPr>
            <a:spLocks noGrp="1"/>
          </p:cNvSpPr>
          <p:nvPr/>
        </p:nvSpPr>
        <p:spPr>
          <a:xfrm>
            <a:off x="857250" y="3514725"/>
            <a:ext cx="323850" cy="266700"/>
          </a:xfrm>
          <a:prstGeom prst="ellipse">
            <a:avLst/>
          </a:prstGeom>
          <a:solidFill>
            <a:srgbClr val="1F5EA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2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  <a:endParaRPr sz="1275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1314450" y="3533775"/>
            <a:ext cx="23241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B2430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三边向外构建正方形</a:t>
            </a:r>
            <a:endParaRPr sz="1200" b="1">
              <a:solidFill>
                <a:srgbClr val="1B243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3790950" y="3533775"/>
            <a:ext cx="12001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0">
                <a:solidFill>
                  <a:srgbClr val="0072BC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0072BC"/>
                </a:solidFill>
                <a:latin typeface="微软雅黑"/>
                <a:ea typeface="微软雅黑"/>
                <a:cs typeface="微软雅黑"/>
              </a:rPr>
              <a:t>面积填充</a:t>
            </a:r>
            <a:endParaRPr sz="1200" b="0">
              <a:solidFill>
                <a:srgbClr val="0072B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742950" y="3943350"/>
            <a:ext cx="4495800" cy="476250"/>
          </a:xfrm>
          <a:prstGeom prst="rect">
            <a:avLst/>
          </a:prstGeom>
          <a:solidFill>
            <a:srgbClr val="F2F7FC"/>
          </a:solidFill>
          <a:ln w="9525">
            <a:solidFill>
              <a:srgbClr val="D4E2EF"/>
            </a:solidFill>
            <a:prstDash val="solid"/>
          </a:ln>
        </p:spPr>
      </p:sp>
      <p:sp>
        <p:nvSpPr>
          <p:cNvPr id="42" name="椭圆 41"/>
          <p:cNvSpPr>
            <a:spLocks noGrp="1"/>
          </p:cNvSpPr>
          <p:nvPr/>
        </p:nvSpPr>
        <p:spPr>
          <a:xfrm>
            <a:off x="857250" y="4029075"/>
            <a:ext cx="323850" cy="266700"/>
          </a:xfrm>
          <a:prstGeom prst="ellipse">
            <a:avLst/>
          </a:prstGeom>
          <a:solidFill>
            <a:srgbClr val="1F5EA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2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  <a:endParaRPr sz="1275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3" name="矩形 42"/>
          <p:cNvSpPr>
            <a:spLocks noGrp="1"/>
          </p:cNvSpPr>
          <p:nvPr/>
        </p:nvSpPr>
        <p:spPr>
          <a:xfrm>
            <a:off x="1314450" y="4048125"/>
            <a:ext cx="23241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B2430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小正方形分割重组</a:t>
            </a:r>
            <a:endParaRPr sz="1200" b="1">
              <a:solidFill>
                <a:srgbClr val="1B243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4" name="矩形 43"/>
          <p:cNvSpPr>
            <a:spLocks noGrp="1"/>
          </p:cNvSpPr>
          <p:nvPr/>
        </p:nvSpPr>
        <p:spPr>
          <a:xfrm>
            <a:off x="3790950" y="4048125"/>
            <a:ext cx="12001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0">
                <a:solidFill>
                  <a:srgbClr val="0072BC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0072BC"/>
                </a:solidFill>
                <a:latin typeface="微软雅黑"/>
                <a:ea typeface="微软雅黑"/>
                <a:cs typeface="微软雅黑"/>
              </a:rPr>
              <a:t>图形拼接</a:t>
            </a:r>
            <a:endParaRPr sz="1200" b="0">
              <a:solidFill>
                <a:srgbClr val="0072B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5" name="矩形 44"/>
          <p:cNvSpPr>
            <a:spLocks noGrp="1"/>
          </p:cNvSpPr>
          <p:nvPr/>
        </p:nvSpPr>
        <p:spPr>
          <a:xfrm>
            <a:off x="742950" y="4457700"/>
            <a:ext cx="4495800" cy="476250"/>
          </a:xfrm>
          <a:prstGeom prst="rect">
            <a:avLst/>
          </a:prstGeom>
          <a:solidFill>
            <a:srgbClr val="FFFFFF"/>
          </a:solidFill>
          <a:ln w="9525">
            <a:solidFill>
              <a:srgbClr val="D4E2EF"/>
            </a:solidFill>
            <a:prstDash val="solid"/>
          </a:ln>
        </p:spPr>
      </p:sp>
      <p:sp>
        <p:nvSpPr>
          <p:cNvPr id="46" name="椭圆 45"/>
          <p:cNvSpPr>
            <a:spLocks noGrp="1"/>
          </p:cNvSpPr>
          <p:nvPr/>
        </p:nvSpPr>
        <p:spPr>
          <a:xfrm>
            <a:off x="857250" y="4543425"/>
            <a:ext cx="323850" cy="266700"/>
          </a:xfrm>
          <a:prstGeom prst="ellipse">
            <a:avLst/>
          </a:prstGeom>
          <a:solidFill>
            <a:srgbClr val="1F5EA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2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  <a:endParaRPr sz="1275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7" name="矩形 46"/>
          <p:cNvSpPr>
            <a:spLocks noGrp="1"/>
          </p:cNvSpPr>
          <p:nvPr/>
        </p:nvSpPr>
        <p:spPr>
          <a:xfrm>
            <a:off x="1314450" y="4562475"/>
            <a:ext cx="23241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B2430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公式 a² + b² = c²</a:t>
            </a:r>
            <a:endParaRPr sz="1200" b="1">
              <a:solidFill>
                <a:srgbClr val="1B243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8" name="矩形 47"/>
          <p:cNvSpPr>
            <a:spLocks noGrp="1"/>
          </p:cNvSpPr>
          <p:nvPr/>
        </p:nvSpPr>
        <p:spPr>
          <a:xfrm>
            <a:off x="3790950" y="4562475"/>
            <a:ext cx="12001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0">
                <a:solidFill>
                  <a:srgbClr val="0072BC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0072BC"/>
                </a:solidFill>
                <a:latin typeface="微软雅黑"/>
                <a:ea typeface="微软雅黑"/>
                <a:cs typeface="微软雅黑"/>
              </a:rPr>
              <a:t>文字淡入</a:t>
            </a:r>
            <a:endParaRPr sz="1200" b="0">
              <a:solidFill>
                <a:srgbClr val="0072B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9" name="矩形 48"/>
          <p:cNvSpPr>
            <a:spLocks noGrp="1"/>
          </p:cNvSpPr>
          <p:nvPr/>
        </p:nvSpPr>
        <p:spPr>
          <a:xfrm>
            <a:off x="5829300" y="1219200"/>
            <a:ext cx="5105400" cy="2857500"/>
          </a:xfrm>
          <a:prstGeom prst="rect">
            <a:avLst/>
          </a:prstGeom>
          <a:solidFill>
            <a:srgbClr val="071018"/>
          </a:solidFill>
          <a:ln w="19050">
            <a:solidFill>
              <a:srgbClr val="163C60"/>
            </a:solidFill>
            <a:prstDash val="solid"/>
          </a:ln>
        </p:spPr>
      </p:sp>
      <p:pic>
        <p:nvPicPr>
          <p:cNvPr id="50" name="图片 4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7802" y="1295400"/>
            <a:ext cx="4948396" cy="2781300"/>
          </a:xfrm>
          <a:prstGeom prst="rect">
            <a:avLst/>
          </a:prstGeom>
        </p:spPr>
      </p:pic>
      <p:sp>
        <p:nvSpPr>
          <p:cNvPr id="51" name="矩形 50"/>
          <p:cNvSpPr>
            <a:spLocks noGrp="1"/>
          </p:cNvSpPr>
          <p:nvPr/>
        </p:nvSpPr>
        <p:spPr>
          <a:xfrm>
            <a:off x="5905500" y="4171950"/>
            <a:ext cx="1714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F6B7A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5F6B7A"/>
                </a:solidFill>
                <a:latin typeface="微软雅黑"/>
                <a:ea typeface="微软雅黑"/>
                <a:cs typeface="微软雅黑"/>
              </a:rPr>
              <a:t>本地生成动画帧</a:t>
            </a:r>
            <a:endParaRPr sz="1050" b="0">
              <a:solidFill>
                <a:srgbClr val="5F6B7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2" name="矩形 51"/>
          <p:cNvSpPr>
            <a:spLocks noGrp="1"/>
          </p:cNvSpPr>
          <p:nvPr/>
        </p:nvSpPr>
        <p:spPr>
          <a:xfrm>
            <a:off x="5943600" y="4648200"/>
            <a:ext cx="1428750" cy="685800"/>
          </a:xfrm>
          <a:prstGeom prst="rect">
            <a:avLst/>
          </a:prstGeom>
          <a:solidFill>
            <a:srgbClr val="EEF6FF"/>
          </a:solidFill>
          <a:ln w="9525">
            <a:solidFill>
              <a:srgbClr val="B7D2EC"/>
            </a:solidFill>
            <a:prstDash val="solid"/>
          </a:ln>
        </p:spPr>
      </p:sp>
      <p:sp>
        <p:nvSpPr>
          <p:cNvPr id="53" name="矩形 52"/>
          <p:cNvSpPr>
            <a:spLocks noGrp="1"/>
          </p:cNvSpPr>
          <p:nvPr/>
        </p:nvSpPr>
        <p:spPr>
          <a:xfrm>
            <a:off x="5943600" y="4724400"/>
            <a:ext cx="14287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75" b="1">
                <a:solidFill>
                  <a:srgbClr val="0B3C8C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0B3C8C"/>
                </a:solidFill>
                <a:latin typeface="微软雅黑"/>
                <a:ea typeface="微软雅黑"/>
                <a:cs typeface="微软雅黑"/>
              </a:rPr>
              <a:t>约75秒</a:t>
            </a:r>
            <a:endParaRPr sz="1875" b="1">
              <a:solidFill>
                <a:srgbClr val="0B3C8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4" name="矩形 53"/>
          <p:cNvSpPr>
            <a:spLocks noGrp="1"/>
          </p:cNvSpPr>
          <p:nvPr/>
        </p:nvSpPr>
        <p:spPr>
          <a:xfrm>
            <a:off x="5943600" y="5067300"/>
            <a:ext cx="1428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0">
                <a:solidFill>
                  <a:srgbClr val="5F6B7A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F6B7A"/>
                </a:solidFill>
                <a:latin typeface="微软雅黑"/>
                <a:ea typeface="微软雅黑"/>
                <a:cs typeface="微软雅黑"/>
              </a:rPr>
              <a:t>AI深度生成</a:t>
            </a:r>
            <a:endParaRPr sz="975" b="0">
              <a:solidFill>
                <a:srgbClr val="5F6B7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5" name="矩形 54"/>
          <p:cNvSpPr>
            <a:spLocks noGrp="1"/>
          </p:cNvSpPr>
          <p:nvPr/>
        </p:nvSpPr>
        <p:spPr>
          <a:xfrm>
            <a:off x="7600950" y="4648200"/>
            <a:ext cx="1428750" cy="685800"/>
          </a:xfrm>
          <a:prstGeom prst="rect">
            <a:avLst/>
          </a:prstGeom>
          <a:solidFill>
            <a:srgbClr val="EEF6FF"/>
          </a:solidFill>
          <a:ln w="9525">
            <a:solidFill>
              <a:srgbClr val="B7D2EC"/>
            </a:solidFill>
            <a:prstDash val="solid"/>
          </a:ln>
        </p:spPr>
      </p:sp>
      <p:sp>
        <p:nvSpPr>
          <p:cNvPr id="56" name="矩形 55"/>
          <p:cNvSpPr>
            <a:spLocks noGrp="1"/>
          </p:cNvSpPr>
          <p:nvPr/>
        </p:nvSpPr>
        <p:spPr>
          <a:xfrm>
            <a:off x="7600950" y="4724400"/>
            <a:ext cx="14287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75" b="1">
                <a:solidFill>
                  <a:srgbClr val="0B3C8C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0B3C8C"/>
                </a:solidFill>
                <a:latin typeface="微软雅黑"/>
                <a:ea typeface="微软雅黑"/>
                <a:cs typeface="微软雅黑"/>
              </a:rPr>
              <a:t>约45秒</a:t>
            </a:r>
            <a:endParaRPr sz="1875" b="1">
              <a:solidFill>
                <a:srgbClr val="0B3C8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7" name="矩形 56"/>
          <p:cNvSpPr>
            <a:spLocks noGrp="1"/>
          </p:cNvSpPr>
          <p:nvPr/>
        </p:nvSpPr>
        <p:spPr>
          <a:xfrm>
            <a:off x="7600950" y="5067300"/>
            <a:ext cx="1428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0">
                <a:solidFill>
                  <a:srgbClr val="5F6B7A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F6B7A"/>
                </a:solidFill>
                <a:latin typeface="微软雅黑"/>
                <a:ea typeface="微软雅黑"/>
                <a:cs typeface="微软雅黑"/>
              </a:rPr>
              <a:t>低清预览渲染</a:t>
            </a:r>
            <a:endParaRPr sz="975" b="0">
              <a:solidFill>
                <a:srgbClr val="5F6B7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8" name="矩形 57"/>
          <p:cNvSpPr>
            <a:spLocks noGrp="1"/>
          </p:cNvSpPr>
          <p:nvPr/>
        </p:nvSpPr>
        <p:spPr>
          <a:xfrm>
            <a:off x="9258300" y="4648200"/>
            <a:ext cx="1428750" cy="685800"/>
          </a:xfrm>
          <a:prstGeom prst="rect">
            <a:avLst/>
          </a:prstGeom>
          <a:solidFill>
            <a:srgbClr val="EAF8F2"/>
          </a:solidFill>
          <a:ln w="9525">
            <a:solidFill>
              <a:srgbClr val="9AD3B4"/>
            </a:solidFill>
            <a:prstDash val="solid"/>
          </a:ln>
        </p:spPr>
      </p:sp>
      <p:sp>
        <p:nvSpPr>
          <p:cNvPr id="59" name="矩形 58"/>
          <p:cNvSpPr>
            <a:spLocks noGrp="1"/>
          </p:cNvSpPr>
          <p:nvPr/>
        </p:nvSpPr>
        <p:spPr>
          <a:xfrm>
            <a:off x="9258300" y="4724400"/>
            <a:ext cx="14287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75" b="1">
                <a:solidFill>
                  <a:srgbClr val="2EAD6B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2EAD6B"/>
                </a:solidFill>
                <a:latin typeface="微软雅黑"/>
                <a:ea typeface="微软雅黑"/>
                <a:cs typeface="微软雅黑"/>
              </a:rPr>
              <a:t>分钟级</a:t>
            </a:r>
            <a:endParaRPr sz="1875" b="1">
              <a:solidFill>
                <a:srgbClr val="2EAD6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0" name="矩形 59"/>
          <p:cNvSpPr>
            <a:spLocks noGrp="1"/>
          </p:cNvSpPr>
          <p:nvPr/>
        </p:nvSpPr>
        <p:spPr>
          <a:xfrm>
            <a:off x="9258300" y="5067300"/>
            <a:ext cx="1428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0">
                <a:solidFill>
                  <a:srgbClr val="5F6B7A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F6B7A"/>
                </a:solidFill>
                <a:latin typeface="微软雅黑"/>
                <a:ea typeface="微软雅黑"/>
                <a:cs typeface="微软雅黑"/>
              </a:rPr>
              <a:t>教学动画制作</a:t>
            </a:r>
            <a:endParaRPr sz="975" b="0">
              <a:solidFill>
                <a:srgbClr val="5F6B7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1" name="矩形 60"/>
          <p:cNvSpPr>
            <a:spLocks noGrp="1"/>
          </p:cNvSpPr>
          <p:nvPr/>
        </p:nvSpPr>
        <p:spPr>
          <a:xfrm>
            <a:off x="5943600" y="5619750"/>
            <a:ext cx="4953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B2430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教师反馈：从“需要画很多图讲证明”到“全班学生一目了然”。</a:t>
            </a:r>
            <a:endParaRPr sz="1275" b="1">
              <a:solidFill>
                <a:srgbClr val="1B2430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5" name="五边形 24"/>
          <p:cNvSpPr>
            <a:spLocks noGrp="1"/>
          </p:cNvSpPr>
          <p:nvPr/>
        </p:nvSpPr>
        <p:spPr>
          <a:xfrm rot="10800000">
            <a:off x="9714230" y="0"/>
            <a:ext cx="2477770" cy="982345"/>
          </a:xfrm>
          <a:prstGeom prst="homePlate">
            <a:avLst>
              <a:gd name="adj" fmla="val 35482"/>
            </a:avLst>
          </a:pr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10801350" y="6496050"/>
            <a:ext cx="857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7E8CA0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7E8CA0"/>
                </a:solidFill>
                <a:latin typeface="微软雅黑"/>
                <a:ea typeface="微软雅黑"/>
                <a:cs typeface="微软雅黑"/>
              </a:rPr>
              <a:t>0</a:t>
            </a:r>
            <a:r>
              <a:rPr lang="en-US" sz="900" b="0">
                <a:solidFill>
                  <a:srgbClr val="7E8CA0"/>
                </a:solidFill>
                <a:latin typeface="微软雅黑"/>
                <a:ea typeface="微软雅黑"/>
                <a:cs typeface="微软雅黑"/>
              </a:rPr>
              <a:t>9</a:t>
            </a:r>
            <a:r>
              <a:rPr sz="900" b="0">
                <a:solidFill>
                  <a:srgbClr val="7E8CA0"/>
                </a:solidFill>
                <a:latin typeface="微软雅黑"/>
                <a:ea typeface="微软雅黑"/>
                <a:cs typeface="微软雅黑"/>
              </a:rPr>
              <a:t> / 1</a:t>
            </a:r>
            <a:r>
              <a:rPr lang="en-US" sz="900" b="0">
                <a:solidFill>
                  <a:srgbClr val="7E8CA0"/>
                </a:solidFill>
                <a:latin typeface="微软雅黑"/>
                <a:ea typeface="微软雅黑"/>
                <a:cs typeface="微软雅黑"/>
              </a:rPr>
              <a:t>2</a:t>
            </a:r>
            <a:endParaRPr lang="en-US" sz="900" b="0">
              <a:solidFill>
                <a:srgbClr val="7E8CA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552450" y="276225"/>
            <a:ext cx="91440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2400" b="1">
                <a:solidFill>
                  <a:srgbClr val="FFFFFF"/>
                </a:solidFill>
                <a:latin typeface="KaiTi"/>
                <a:ea typeface="KaiTi"/>
                <a:cs typeface="KaiTi"/>
              </a:defRPr>
            </a:pPr>
            <a:r>
              <a:rPr sz="2400" b="1">
                <a:solidFill>
                  <a:srgbClr val="FFFFFF"/>
                </a:solidFill>
                <a:latin typeface="KaiTi"/>
                <a:ea typeface="KaiTi"/>
                <a:cs typeface="KaiTi"/>
              </a:rPr>
              <a:t>一、</a:t>
            </a:r>
            <a:r>
              <a:rPr lang="zh-CN">
                <a:sym typeface="+mn-ea"/>
              </a:rPr>
              <a:t>动画</a:t>
            </a:r>
            <a:r>
              <a:rPr sz="2400" b="1">
                <a:solidFill>
                  <a:srgbClr val="FFFFFF"/>
                </a:solidFill>
                <a:latin typeface="KaiTi"/>
                <a:ea typeface="KaiTi"/>
                <a:cs typeface="KaiTi"/>
              </a:rPr>
              <a:t>案例</a:t>
            </a:r>
            <a:r>
              <a:rPr lang="en-US" sz="2400" b="1">
                <a:solidFill>
                  <a:srgbClr val="FFFFFF"/>
                </a:solidFill>
                <a:latin typeface="KaiTi"/>
                <a:ea typeface="KaiTi"/>
                <a:cs typeface="KaiTi"/>
              </a:rPr>
              <a:t>（</a:t>
            </a:r>
            <a:r>
              <a:rPr lang="zh-CN">
                <a:sym typeface="+mn-ea"/>
              </a:rPr>
              <a:t>相交线</a:t>
            </a:r>
            <a:r>
              <a:rPr lang="en-US" sz="2400" b="1">
                <a:solidFill>
                  <a:srgbClr val="FFFFFF"/>
                </a:solidFill>
                <a:latin typeface="KaiTi"/>
                <a:ea typeface="KaiTi"/>
                <a:cs typeface="KaiTi"/>
              </a:rPr>
              <a:t>）</a:t>
            </a:r>
            <a:endParaRPr lang="en-US" sz="2400" b="1">
              <a:solidFill>
                <a:srgbClr val="FFFFFF"/>
              </a:solidFill>
              <a:latin typeface="KaiTi"/>
              <a:ea typeface="KaiTi"/>
              <a:cs typeface="KaiTi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10306050" y="285750"/>
            <a:ext cx="15240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800" b="1">
                <a:solidFill>
                  <a:srgbClr val="0B3C8C"/>
                </a:solidFill>
                <a:latin typeface="KaiTi"/>
                <a:ea typeface="KaiTi"/>
                <a:cs typeface="KaiTi"/>
              </a:defRPr>
            </a:pPr>
            <a:r>
              <a:rPr sz="1800" b="1">
                <a:solidFill>
                  <a:srgbClr val="0B3C8C"/>
                </a:solidFill>
                <a:latin typeface="KaiTi"/>
                <a:ea typeface="KaiTi"/>
                <a:cs typeface="KaiTi"/>
              </a:rPr>
              <a:t>应用展示</a:t>
            </a:r>
            <a:r>
              <a:rPr lang="en-US" sz="1800" b="1">
                <a:solidFill>
                  <a:srgbClr val="0B3C8C"/>
                </a:solidFill>
                <a:latin typeface="KaiTi"/>
                <a:ea typeface="KaiTi"/>
                <a:cs typeface="KaiTi"/>
              </a:rPr>
              <a:t>2</a:t>
            </a:r>
            <a:endParaRPr lang="en-US" sz="1800" b="1">
              <a:solidFill>
                <a:srgbClr val="0B3C8C"/>
              </a:solidFill>
              <a:latin typeface="KaiTi"/>
              <a:ea typeface="KaiTi"/>
              <a:cs typeface="KaiTi"/>
            </a:endParaRPr>
          </a:p>
        </p:txBody>
      </p:sp>
      <p:pic>
        <p:nvPicPr>
          <p:cNvPr id="2" name="图片 1" descr="平行线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40840"/>
            <a:ext cx="12192000" cy="433451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5" name="五边形 24"/>
          <p:cNvSpPr>
            <a:spLocks noGrp="1"/>
          </p:cNvSpPr>
          <p:nvPr/>
        </p:nvSpPr>
        <p:spPr>
          <a:xfrm rot="10800000">
            <a:off x="9714230" y="0"/>
            <a:ext cx="2477770" cy="982345"/>
          </a:xfrm>
          <a:prstGeom prst="homePlate">
            <a:avLst>
              <a:gd name="adj" fmla="val 35482"/>
            </a:avLst>
          </a:pr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10801350" y="6496050"/>
            <a:ext cx="857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7E8CA0"/>
                </a:solidFill>
                <a:latin typeface="微软雅黑"/>
                <a:ea typeface="微软雅黑"/>
                <a:cs typeface="微软雅黑"/>
              </a:defRPr>
            </a:pPr>
            <a:r>
              <a:rPr lang="en-US" sz="900" b="0">
                <a:solidFill>
                  <a:srgbClr val="7E8CA0"/>
                </a:solidFill>
                <a:latin typeface="微软雅黑"/>
                <a:ea typeface="微软雅黑"/>
                <a:cs typeface="微软雅黑"/>
              </a:rPr>
              <a:t>10</a:t>
            </a:r>
            <a:r>
              <a:rPr sz="900" b="0">
                <a:solidFill>
                  <a:srgbClr val="7E8CA0"/>
                </a:solidFill>
                <a:latin typeface="微软雅黑"/>
                <a:ea typeface="微软雅黑"/>
                <a:cs typeface="微软雅黑"/>
              </a:rPr>
              <a:t>/ 1</a:t>
            </a:r>
            <a:r>
              <a:rPr lang="en-US" sz="900" b="0">
                <a:solidFill>
                  <a:srgbClr val="7E8CA0"/>
                </a:solidFill>
                <a:latin typeface="微软雅黑"/>
                <a:ea typeface="微软雅黑"/>
                <a:cs typeface="微软雅黑"/>
              </a:rPr>
              <a:t>2</a:t>
            </a:r>
            <a:endParaRPr lang="en-US" sz="900" b="0">
              <a:solidFill>
                <a:srgbClr val="7E8CA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552450" y="276225"/>
            <a:ext cx="91440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2400" b="1">
                <a:solidFill>
                  <a:srgbClr val="FFFFFF"/>
                </a:solidFill>
                <a:latin typeface="KaiTi"/>
                <a:ea typeface="KaiTi"/>
                <a:cs typeface="KaiTi"/>
              </a:defRPr>
            </a:pPr>
            <a:r>
              <a:rPr sz="2400" b="1">
                <a:solidFill>
                  <a:srgbClr val="FFFFFF"/>
                </a:solidFill>
                <a:latin typeface="KaiTi"/>
                <a:ea typeface="KaiTi"/>
                <a:cs typeface="KaiTi"/>
              </a:rPr>
              <a:t>一、</a:t>
            </a:r>
            <a:r>
              <a:rPr lang="zh-CN" sz="2400" b="1">
                <a:solidFill>
                  <a:srgbClr val="FFFFFF"/>
                </a:solidFill>
                <a:latin typeface="KaiTi"/>
                <a:ea typeface="KaiTi"/>
                <a:cs typeface="KaiTi"/>
              </a:rPr>
              <a:t>动画</a:t>
            </a:r>
            <a:r>
              <a:rPr sz="2400" b="1">
                <a:solidFill>
                  <a:srgbClr val="FFFFFF"/>
                </a:solidFill>
                <a:latin typeface="KaiTi"/>
                <a:ea typeface="KaiTi"/>
                <a:cs typeface="KaiTi"/>
              </a:rPr>
              <a:t>案例</a:t>
            </a:r>
            <a:r>
              <a:rPr lang="en-US" sz="2400" b="1">
                <a:solidFill>
                  <a:srgbClr val="FFFFFF"/>
                </a:solidFill>
                <a:latin typeface="KaiTi"/>
                <a:ea typeface="KaiTi"/>
                <a:cs typeface="KaiTi"/>
              </a:rPr>
              <a:t>（</a:t>
            </a:r>
            <a:r>
              <a:rPr lang="zh-CN">
                <a:sym typeface="+mn-ea"/>
              </a:rPr>
              <a:t>相交线</a:t>
            </a:r>
            <a:r>
              <a:rPr lang="en-US" sz="2400" b="1">
                <a:solidFill>
                  <a:srgbClr val="FFFFFF"/>
                </a:solidFill>
                <a:latin typeface="KaiTi"/>
                <a:ea typeface="KaiTi"/>
                <a:cs typeface="KaiTi"/>
              </a:rPr>
              <a:t>）</a:t>
            </a:r>
            <a:endParaRPr lang="en-US" sz="2400" b="1">
              <a:solidFill>
                <a:srgbClr val="FFFFFF"/>
              </a:solidFill>
              <a:latin typeface="KaiTi"/>
              <a:ea typeface="KaiTi"/>
              <a:cs typeface="KaiTi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10306050" y="285750"/>
            <a:ext cx="15240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800" b="1">
                <a:solidFill>
                  <a:srgbClr val="0B3C8C"/>
                </a:solidFill>
                <a:latin typeface="KaiTi"/>
                <a:ea typeface="KaiTi"/>
                <a:cs typeface="KaiTi"/>
              </a:defRPr>
            </a:pPr>
            <a:r>
              <a:rPr sz="1800" b="1">
                <a:solidFill>
                  <a:srgbClr val="0B3C8C"/>
                </a:solidFill>
                <a:latin typeface="KaiTi"/>
                <a:ea typeface="KaiTi"/>
                <a:cs typeface="KaiTi"/>
              </a:rPr>
              <a:t>应用展示</a:t>
            </a:r>
            <a:r>
              <a:rPr lang="en-US" sz="1800" b="1">
                <a:solidFill>
                  <a:srgbClr val="0B3C8C"/>
                </a:solidFill>
                <a:latin typeface="KaiTi"/>
                <a:ea typeface="KaiTi"/>
                <a:cs typeface="KaiTi"/>
              </a:rPr>
              <a:t>2</a:t>
            </a:r>
            <a:endParaRPr lang="en-US" sz="1800" b="1">
              <a:solidFill>
                <a:srgbClr val="0B3C8C"/>
              </a:solidFill>
              <a:latin typeface="KaiTi"/>
              <a:ea typeface="KaiTi"/>
              <a:cs typeface="KaiTi"/>
            </a:endParaRPr>
          </a:p>
        </p:txBody>
      </p:sp>
      <p:pic>
        <p:nvPicPr>
          <p:cNvPr id="3" name="相交线">
            <a:hlinkClick r:id="" action="ppaction://media"/>
          </p:cNvPr>
          <p:cNvPicPr/>
          <p:nvPr>
            <a:vide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1284605" y="1131570"/>
            <a:ext cx="9863455" cy="502348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 fullScrn="0">
              <p:cMediaNode>
                <p:cTn id="2" fill="hold" display="1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3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 additive="base">
                                        <p:cTn id="7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5" name="五边形 24"/>
          <p:cNvSpPr>
            <a:spLocks noGrp="1"/>
          </p:cNvSpPr>
          <p:nvPr/>
        </p:nvSpPr>
        <p:spPr>
          <a:xfrm rot="10800000">
            <a:off x="9714230" y="0"/>
            <a:ext cx="2477770" cy="982345"/>
          </a:xfrm>
          <a:prstGeom prst="homePlate">
            <a:avLst>
              <a:gd name="adj" fmla="val 35482"/>
            </a:avLst>
          </a:pr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10801350" y="6496050"/>
            <a:ext cx="857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7E8CA0"/>
                </a:solidFill>
                <a:latin typeface="微软雅黑"/>
                <a:ea typeface="微软雅黑"/>
                <a:cs typeface="微软雅黑"/>
              </a:defRPr>
            </a:pPr>
            <a:r>
              <a:rPr lang="en-US" sz="900" b="0">
                <a:solidFill>
                  <a:srgbClr val="7E8CA0"/>
                </a:solidFill>
                <a:latin typeface="微软雅黑"/>
                <a:ea typeface="微软雅黑"/>
                <a:cs typeface="微软雅黑"/>
              </a:rPr>
              <a:t>11</a:t>
            </a:r>
            <a:r>
              <a:rPr sz="900" b="0">
                <a:solidFill>
                  <a:srgbClr val="7E8CA0"/>
                </a:solidFill>
                <a:latin typeface="微软雅黑"/>
                <a:ea typeface="微软雅黑"/>
                <a:cs typeface="微软雅黑"/>
              </a:rPr>
              <a:t>/ 1</a:t>
            </a:r>
            <a:r>
              <a:rPr lang="en-US" sz="900" b="0">
                <a:solidFill>
                  <a:srgbClr val="7E8CA0"/>
                </a:solidFill>
                <a:latin typeface="微软雅黑"/>
                <a:ea typeface="微软雅黑"/>
                <a:cs typeface="微软雅黑"/>
              </a:rPr>
              <a:t>2</a:t>
            </a:r>
            <a:endParaRPr lang="en-US" sz="900" b="0">
              <a:solidFill>
                <a:srgbClr val="7E8CA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552450" y="276225"/>
            <a:ext cx="91440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2400" b="1">
                <a:solidFill>
                  <a:srgbClr val="FFFFFF"/>
                </a:solidFill>
                <a:latin typeface="KaiTi"/>
                <a:ea typeface="KaiTi"/>
                <a:cs typeface="KaiTi"/>
              </a:defRPr>
            </a:pPr>
            <a:r>
              <a:rPr sz="2400" b="1">
                <a:solidFill>
                  <a:srgbClr val="FFFFFF"/>
                </a:solidFill>
                <a:latin typeface="KaiTi"/>
                <a:ea typeface="KaiTi"/>
                <a:cs typeface="KaiTi"/>
              </a:rPr>
              <a:t>二、教师使用流程：从启动到出片3分钟</a:t>
            </a:r>
            <a:endParaRPr sz="2400" b="1">
              <a:solidFill>
                <a:srgbClr val="FFFFFF"/>
              </a:solidFill>
              <a:latin typeface="KaiTi"/>
              <a:ea typeface="KaiTi"/>
              <a:cs typeface="KaiTi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10306050" y="285750"/>
            <a:ext cx="15240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800" b="1">
                <a:solidFill>
                  <a:srgbClr val="0B3C8C"/>
                </a:solidFill>
                <a:latin typeface="KaiTi"/>
                <a:ea typeface="KaiTi"/>
                <a:cs typeface="KaiTi"/>
              </a:defRPr>
            </a:pPr>
            <a:r>
              <a:rPr sz="1800" b="1">
                <a:solidFill>
                  <a:srgbClr val="0B3C8C"/>
                </a:solidFill>
                <a:latin typeface="KaiTi"/>
                <a:ea typeface="KaiTi"/>
                <a:cs typeface="KaiTi"/>
              </a:rPr>
              <a:t>应用展示</a:t>
            </a:r>
            <a:endParaRPr sz="1800" b="1">
              <a:solidFill>
                <a:srgbClr val="0B3C8C"/>
              </a:solidFill>
              <a:latin typeface="KaiTi"/>
              <a:ea typeface="KaiTi"/>
              <a:cs typeface="KaiTi"/>
            </a:endParaRPr>
          </a:p>
        </p:txBody>
      </p:sp>
      <p:sp>
        <p:nvSpPr>
          <p:cNvPr id="29" name="椭圆 28"/>
          <p:cNvSpPr>
            <a:spLocks noGrp="1"/>
          </p:cNvSpPr>
          <p:nvPr/>
        </p:nvSpPr>
        <p:spPr>
          <a:xfrm>
            <a:off x="1219200" y="1447800"/>
            <a:ext cx="704850" cy="704850"/>
          </a:xfrm>
          <a:prstGeom prst="ellipse">
            <a:avLst/>
          </a:prstGeom>
          <a:solidFill>
            <a:srgbClr val="1F5EA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1219200" y="1581150"/>
            <a:ext cx="7048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22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  <a:endParaRPr sz="225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1" name="右箭头 30"/>
          <p:cNvSpPr>
            <a:spLocks noGrp="1"/>
          </p:cNvSpPr>
          <p:nvPr/>
        </p:nvSpPr>
        <p:spPr>
          <a:xfrm>
            <a:off x="2000250" y="1695450"/>
            <a:ext cx="666750" cy="209550"/>
          </a:xfrm>
          <a:prstGeom prst="rightArrow">
            <a:avLst/>
          </a:prstGeom>
          <a:solidFill>
            <a:srgbClr val="0072B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704850" y="2419350"/>
            <a:ext cx="17335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75" b="1">
                <a:solidFill>
                  <a:srgbClr val="0B3C8C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0B3C8C"/>
                </a:solidFill>
                <a:latin typeface="微软雅黑"/>
                <a:ea typeface="微软雅黑"/>
                <a:cs typeface="微软雅黑"/>
              </a:rPr>
              <a:t>启动系统</a:t>
            </a:r>
            <a:endParaRPr sz="1575" b="1">
              <a:solidFill>
                <a:srgbClr val="0B3C8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704850" y="2781300"/>
            <a:ext cx="173355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0">
                <a:solidFill>
                  <a:srgbClr val="1B2430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双击启动脚本</a:t>
            </a:r>
            <a:endParaRPr sz="1125" b="0">
              <a:solidFill>
                <a:srgbClr val="1B2430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defRPr sz="1125" b="0">
                <a:solidFill>
                  <a:srgbClr val="1B2430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浏览器打开控制台</a:t>
            </a:r>
            <a:endParaRPr sz="1125" b="0">
              <a:solidFill>
                <a:srgbClr val="1B243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971550" y="3562350"/>
            <a:ext cx="1200150" cy="285750"/>
          </a:xfrm>
          <a:prstGeom prst="rect">
            <a:avLst/>
          </a:prstGeom>
          <a:solidFill>
            <a:srgbClr val="0072B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约10秒</a:t>
            </a:r>
            <a:endParaRPr sz="12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5" name="椭圆 34"/>
          <p:cNvSpPr>
            <a:spLocks noGrp="1"/>
          </p:cNvSpPr>
          <p:nvPr/>
        </p:nvSpPr>
        <p:spPr>
          <a:xfrm>
            <a:off x="3333750" y="1447800"/>
            <a:ext cx="704850" cy="704850"/>
          </a:xfrm>
          <a:prstGeom prst="ellipse">
            <a:avLst/>
          </a:prstGeom>
          <a:solidFill>
            <a:srgbClr val="1F5EA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矩形 35"/>
          <p:cNvSpPr>
            <a:spLocks noGrp="1"/>
          </p:cNvSpPr>
          <p:nvPr/>
        </p:nvSpPr>
        <p:spPr>
          <a:xfrm>
            <a:off x="3333750" y="1581150"/>
            <a:ext cx="7048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22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  <a:endParaRPr sz="225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7" name="右箭头 36"/>
          <p:cNvSpPr>
            <a:spLocks noGrp="1"/>
          </p:cNvSpPr>
          <p:nvPr/>
        </p:nvSpPr>
        <p:spPr>
          <a:xfrm>
            <a:off x="4114800" y="1695450"/>
            <a:ext cx="666750" cy="209550"/>
          </a:xfrm>
          <a:prstGeom prst="rightArrow">
            <a:avLst/>
          </a:prstGeom>
          <a:solidFill>
            <a:srgbClr val="0072B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矩形 37"/>
          <p:cNvSpPr>
            <a:spLocks noGrp="1"/>
          </p:cNvSpPr>
          <p:nvPr/>
        </p:nvSpPr>
        <p:spPr>
          <a:xfrm>
            <a:off x="2819400" y="2419350"/>
            <a:ext cx="17335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75" b="1">
                <a:solidFill>
                  <a:srgbClr val="0B3C8C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0B3C8C"/>
                </a:solidFill>
                <a:latin typeface="微软雅黑"/>
                <a:ea typeface="微软雅黑"/>
                <a:cs typeface="微软雅黑"/>
              </a:rPr>
              <a:t>输入主题</a:t>
            </a:r>
            <a:endParaRPr sz="1575" b="1">
              <a:solidFill>
                <a:srgbClr val="0B3C8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2819400" y="2781300"/>
            <a:ext cx="173355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0">
                <a:solidFill>
                  <a:srgbClr val="1B2430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自然语言描述创意</a:t>
            </a:r>
            <a:endParaRPr sz="1125" b="0">
              <a:solidFill>
                <a:srgbClr val="1B2430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defRPr sz="1125" b="0">
                <a:solidFill>
                  <a:srgbClr val="1B2430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或载入示例</a:t>
            </a:r>
            <a:endParaRPr sz="1125" b="0">
              <a:solidFill>
                <a:srgbClr val="1B243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3086100" y="3562350"/>
            <a:ext cx="1200150" cy="285750"/>
          </a:xfrm>
          <a:prstGeom prst="rect">
            <a:avLst/>
          </a:prstGeom>
          <a:solidFill>
            <a:srgbClr val="0072B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1-2分钟</a:t>
            </a:r>
            <a:endParaRPr sz="12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1" name="椭圆 40"/>
          <p:cNvSpPr>
            <a:spLocks noGrp="1"/>
          </p:cNvSpPr>
          <p:nvPr/>
        </p:nvSpPr>
        <p:spPr>
          <a:xfrm>
            <a:off x="5448300" y="1447800"/>
            <a:ext cx="704850" cy="704850"/>
          </a:xfrm>
          <a:prstGeom prst="ellipse">
            <a:avLst/>
          </a:prstGeom>
          <a:solidFill>
            <a:srgbClr val="1F5EA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矩形 41"/>
          <p:cNvSpPr>
            <a:spLocks noGrp="1"/>
          </p:cNvSpPr>
          <p:nvPr/>
        </p:nvSpPr>
        <p:spPr>
          <a:xfrm>
            <a:off x="5448300" y="1581150"/>
            <a:ext cx="7048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22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  <a:endParaRPr sz="225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3" name="右箭头 42"/>
          <p:cNvSpPr>
            <a:spLocks noGrp="1"/>
          </p:cNvSpPr>
          <p:nvPr/>
        </p:nvSpPr>
        <p:spPr>
          <a:xfrm>
            <a:off x="6229350" y="1695450"/>
            <a:ext cx="666750" cy="209550"/>
          </a:xfrm>
          <a:prstGeom prst="rightArrow">
            <a:avLst/>
          </a:prstGeom>
          <a:solidFill>
            <a:srgbClr val="0072B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矩形 43"/>
          <p:cNvSpPr>
            <a:spLocks noGrp="1"/>
          </p:cNvSpPr>
          <p:nvPr/>
        </p:nvSpPr>
        <p:spPr>
          <a:xfrm>
            <a:off x="4933950" y="2419350"/>
            <a:ext cx="17335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75" b="1">
                <a:solidFill>
                  <a:srgbClr val="0B3C8C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0B3C8C"/>
                </a:solidFill>
                <a:latin typeface="微软雅黑"/>
                <a:ea typeface="微软雅黑"/>
                <a:cs typeface="微软雅黑"/>
              </a:rPr>
              <a:t>选择参数</a:t>
            </a:r>
            <a:endParaRPr sz="1575" b="1">
              <a:solidFill>
                <a:srgbClr val="0B3C8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5" name="矩形 44"/>
          <p:cNvSpPr>
            <a:spLocks noGrp="1"/>
          </p:cNvSpPr>
          <p:nvPr/>
        </p:nvSpPr>
        <p:spPr>
          <a:xfrm>
            <a:off x="4933950" y="2781300"/>
            <a:ext cx="173355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0">
                <a:solidFill>
                  <a:srgbClr val="1B2430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学段 / 时长 / 风格</a:t>
            </a:r>
            <a:endParaRPr sz="1125" b="0">
              <a:solidFill>
                <a:srgbClr val="1B2430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defRPr sz="1125" b="0">
                <a:solidFill>
                  <a:srgbClr val="1B2430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AI模式或草稿模式</a:t>
            </a:r>
            <a:endParaRPr sz="1125" b="0">
              <a:solidFill>
                <a:srgbClr val="1B243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6" name="矩形 45"/>
          <p:cNvSpPr>
            <a:spLocks noGrp="1"/>
          </p:cNvSpPr>
          <p:nvPr/>
        </p:nvSpPr>
        <p:spPr>
          <a:xfrm>
            <a:off x="5200650" y="3562350"/>
            <a:ext cx="1200150" cy="285750"/>
          </a:xfrm>
          <a:prstGeom prst="rect">
            <a:avLst/>
          </a:prstGeom>
          <a:solidFill>
            <a:srgbClr val="0072B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约10秒</a:t>
            </a:r>
            <a:endParaRPr sz="12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7" name="椭圆 46"/>
          <p:cNvSpPr>
            <a:spLocks noGrp="1"/>
          </p:cNvSpPr>
          <p:nvPr/>
        </p:nvSpPr>
        <p:spPr>
          <a:xfrm>
            <a:off x="7562850" y="1447800"/>
            <a:ext cx="704850" cy="704850"/>
          </a:xfrm>
          <a:prstGeom prst="ellipse">
            <a:avLst/>
          </a:prstGeom>
          <a:solidFill>
            <a:srgbClr val="1F5EA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矩形 47"/>
          <p:cNvSpPr>
            <a:spLocks noGrp="1"/>
          </p:cNvSpPr>
          <p:nvPr/>
        </p:nvSpPr>
        <p:spPr>
          <a:xfrm>
            <a:off x="7562850" y="1581150"/>
            <a:ext cx="7048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22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  <a:endParaRPr sz="225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9" name="右箭头 48"/>
          <p:cNvSpPr>
            <a:spLocks noGrp="1"/>
          </p:cNvSpPr>
          <p:nvPr/>
        </p:nvSpPr>
        <p:spPr>
          <a:xfrm>
            <a:off x="8343900" y="1695450"/>
            <a:ext cx="666750" cy="209550"/>
          </a:xfrm>
          <a:prstGeom prst="rightArrow">
            <a:avLst/>
          </a:prstGeom>
          <a:solidFill>
            <a:srgbClr val="0072B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矩形 49"/>
          <p:cNvSpPr>
            <a:spLocks noGrp="1"/>
          </p:cNvSpPr>
          <p:nvPr/>
        </p:nvSpPr>
        <p:spPr>
          <a:xfrm>
            <a:off x="7048500" y="2419350"/>
            <a:ext cx="17335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75" b="1">
                <a:solidFill>
                  <a:srgbClr val="0B3C8C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0B3C8C"/>
                </a:solidFill>
                <a:latin typeface="微软雅黑"/>
                <a:ea typeface="微软雅黑"/>
                <a:cs typeface="微软雅黑"/>
              </a:rPr>
              <a:t>生成方案</a:t>
            </a:r>
            <a:endParaRPr sz="1575" b="1">
              <a:solidFill>
                <a:srgbClr val="0B3C8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1" name="矩形 50"/>
          <p:cNvSpPr>
            <a:spLocks noGrp="1"/>
          </p:cNvSpPr>
          <p:nvPr/>
        </p:nvSpPr>
        <p:spPr>
          <a:xfrm>
            <a:off x="7048500" y="2781300"/>
            <a:ext cx="173355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0">
                <a:solidFill>
                  <a:srgbClr val="1B2430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11阶段自动分析</a:t>
            </a:r>
            <a:endParaRPr sz="1125" b="0">
              <a:solidFill>
                <a:srgbClr val="1B2430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defRPr sz="1125" b="0">
                <a:solidFill>
                  <a:srgbClr val="1B2430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实时查看状态</a:t>
            </a:r>
            <a:endParaRPr sz="1125" b="0">
              <a:solidFill>
                <a:srgbClr val="1B243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2" name="矩形 51"/>
          <p:cNvSpPr>
            <a:spLocks noGrp="1"/>
          </p:cNvSpPr>
          <p:nvPr/>
        </p:nvSpPr>
        <p:spPr>
          <a:xfrm>
            <a:off x="7315200" y="3562350"/>
            <a:ext cx="1200150" cy="285750"/>
          </a:xfrm>
          <a:prstGeom prst="rect">
            <a:avLst/>
          </a:prstGeom>
          <a:solidFill>
            <a:srgbClr val="0072B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60-120秒</a:t>
            </a:r>
            <a:endParaRPr sz="12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3" name="椭圆 52"/>
          <p:cNvSpPr>
            <a:spLocks noGrp="1"/>
          </p:cNvSpPr>
          <p:nvPr/>
        </p:nvSpPr>
        <p:spPr>
          <a:xfrm>
            <a:off x="9677400" y="1447800"/>
            <a:ext cx="704850" cy="704850"/>
          </a:xfrm>
          <a:prstGeom prst="ellipse">
            <a:avLst/>
          </a:prstGeom>
          <a:solidFill>
            <a:srgbClr val="2EAD6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矩形 53"/>
          <p:cNvSpPr>
            <a:spLocks noGrp="1"/>
          </p:cNvSpPr>
          <p:nvPr/>
        </p:nvSpPr>
        <p:spPr>
          <a:xfrm>
            <a:off x="9677400" y="1581150"/>
            <a:ext cx="7048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22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  <a:endParaRPr sz="225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5" name="矩形 54"/>
          <p:cNvSpPr>
            <a:spLocks noGrp="1"/>
          </p:cNvSpPr>
          <p:nvPr/>
        </p:nvSpPr>
        <p:spPr>
          <a:xfrm>
            <a:off x="9163050" y="2419350"/>
            <a:ext cx="17335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75" b="1">
                <a:solidFill>
                  <a:srgbClr val="0B3C8C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0B3C8C"/>
                </a:solidFill>
                <a:latin typeface="微软雅黑"/>
                <a:ea typeface="微软雅黑"/>
                <a:cs typeface="微软雅黑"/>
              </a:rPr>
              <a:t>渲染预览</a:t>
            </a:r>
            <a:endParaRPr sz="1575" b="1">
              <a:solidFill>
                <a:srgbClr val="0B3C8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6" name="矩形 55"/>
          <p:cNvSpPr>
            <a:spLocks noGrp="1"/>
          </p:cNvSpPr>
          <p:nvPr/>
        </p:nvSpPr>
        <p:spPr>
          <a:xfrm>
            <a:off x="9163050" y="2781300"/>
            <a:ext cx="173355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0">
                <a:solidFill>
                  <a:srgbClr val="1B2430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自动渲染MP4</a:t>
            </a:r>
            <a:endParaRPr sz="1125" b="0">
              <a:solidFill>
                <a:srgbClr val="1B2430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defRPr sz="1125" b="0">
                <a:solidFill>
                  <a:srgbClr val="1B2430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页面直接播放</a:t>
            </a:r>
            <a:endParaRPr sz="1125" b="0">
              <a:solidFill>
                <a:srgbClr val="1B243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7" name="矩形 56"/>
          <p:cNvSpPr>
            <a:spLocks noGrp="1"/>
          </p:cNvSpPr>
          <p:nvPr/>
        </p:nvSpPr>
        <p:spPr>
          <a:xfrm>
            <a:off x="9429750" y="3562350"/>
            <a:ext cx="1200150" cy="285750"/>
          </a:xfrm>
          <a:prstGeom prst="rect">
            <a:avLst/>
          </a:prstGeom>
          <a:solidFill>
            <a:srgbClr val="2EAD6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30-180秒</a:t>
            </a:r>
            <a:endParaRPr sz="12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8" name="矩形 57"/>
          <p:cNvSpPr>
            <a:spLocks noGrp="1"/>
          </p:cNvSpPr>
          <p:nvPr/>
        </p:nvSpPr>
        <p:spPr>
          <a:xfrm>
            <a:off x="1790700" y="4514850"/>
            <a:ext cx="7905750" cy="628650"/>
          </a:xfrm>
          <a:prstGeom prst="rect">
            <a:avLst/>
          </a:prstGeom>
          <a:solidFill>
            <a:srgbClr val="EAF8F2"/>
          </a:solidFill>
          <a:ln w="9525">
            <a:solidFill>
              <a:srgbClr val="9AD3B4"/>
            </a:solidFill>
            <a:prstDash val="solid"/>
          </a:ln>
        </p:spPr>
      </p:sp>
      <p:sp>
        <p:nvSpPr>
          <p:cNvPr id="59" name="矩形 58"/>
          <p:cNvSpPr>
            <a:spLocks noGrp="1"/>
          </p:cNvSpPr>
          <p:nvPr/>
        </p:nvSpPr>
        <p:spPr>
          <a:xfrm>
            <a:off x="2095500" y="4676775"/>
            <a:ext cx="72961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75" b="1">
                <a:solidFill>
                  <a:srgbClr val="2EAD6B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2EAD6B"/>
                </a:solidFill>
                <a:latin typeface="微软雅黑"/>
                <a:ea typeface="微软雅黑"/>
                <a:cs typeface="微软雅黑"/>
              </a:rPr>
              <a:t>合计：最快3分钟，从教学创意到可播放视频</a:t>
            </a:r>
            <a:endParaRPr sz="1875" b="1">
              <a:solidFill>
                <a:srgbClr val="2EAD6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0" name="矩形 59"/>
          <p:cNvSpPr>
            <a:spLocks noGrp="1"/>
          </p:cNvSpPr>
          <p:nvPr/>
        </p:nvSpPr>
        <p:spPr>
          <a:xfrm>
            <a:off x="2457450" y="5429250"/>
            <a:ext cx="6858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0">
                <a:solidFill>
                  <a:srgbClr val="1B2430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演示视频建议：屏幕录制完整操作流程（30-60秒），配合旁白讲解。</a:t>
            </a:r>
            <a:endParaRPr sz="1350" b="0">
              <a:solidFill>
                <a:srgbClr val="1B2430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5" name="五边形 24"/>
          <p:cNvSpPr>
            <a:spLocks noGrp="1"/>
          </p:cNvSpPr>
          <p:nvPr/>
        </p:nvSpPr>
        <p:spPr>
          <a:xfrm rot="10800000">
            <a:off x="9714230" y="0"/>
            <a:ext cx="2477770" cy="982345"/>
          </a:xfrm>
          <a:prstGeom prst="homePlate">
            <a:avLst>
              <a:gd name="adj" fmla="val 35482"/>
            </a:avLst>
          </a:pr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10801350" y="6496050"/>
            <a:ext cx="857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7E8CA0"/>
                </a:solidFill>
                <a:latin typeface="微软雅黑"/>
                <a:ea typeface="微软雅黑"/>
                <a:cs typeface="微软雅黑"/>
              </a:defRPr>
            </a:pPr>
            <a:r>
              <a:rPr lang="en-US" sz="900" b="0">
                <a:solidFill>
                  <a:srgbClr val="7E8CA0"/>
                </a:solidFill>
                <a:latin typeface="微软雅黑"/>
                <a:ea typeface="微软雅黑"/>
                <a:cs typeface="微软雅黑"/>
              </a:rPr>
              <a:t>12</a:t>
            </a:r>
            <a:r>
              <a:rPr sz="900" b="0">
                <a:solidFill>
                  <a:srgbClr val="7E8CA0"/>
                </a:solidFill>
                <a:latin typeface="微软雅黑"/>
                <a:ea typeface="微软雅黑"/>
                <a:cs typeface="微软雅黑"/>
              </a:rPr>
              <a:t>/ 1</a:t>
            </a:r>
            <a:r>
              <a:rPr lang="en-US" sz="900" b="0">
                <a:solidFill>
                  <a:srgbClr val="7E8CA0"/>
                </a:solidFill>
                <a:latin typeface="微软雅黑"/>
                <a:ea typeface="微软雅黑"/>
                <a:cs typeface="微软雅黑"/>
              </a:rPr>
              <a:t>2</a:t>
            </a:r>
            <a:endParaRPr lang="en-US" sz="900" b="0">
              <a:solidFill>
                <a:srgbClr val="7E8CA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552450" y="276225"/>
            <a:ext cx="91440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2400" b="1">
                <a:solidFill>
                  <a:srgbClr val="FFFFFF"/>
                </a:solidFill>
                <a:latin typeface="KaiTi"/>
                <a:ea typeface="KaiTi"/>
                <a:cs typeface="KaiTi"/>
              </a:defRPr>
            </a:pPr>
            <a:r>
              <a:rPr sz="2400" b="1">
                <a:solidFill>
                  <a:srgbClr val="FFFFFF"/>
                </a:solidFill>
                <a:latin typeface="KaiTi"/>
                <a:ea typeface="KaiTi"/>
                <a:cs typeface="KaiTi"/>
              </a:rPr>
              <a:t>总结与创新</a:t>
            </a:r>
            <a:endParaRPr sz="2400" b="1">
              <a:solidFill>
                <a:srgbClr val="FFFFFF"/>
              </a:solidFill>
              <a:latin typeface="KaiTi"/>
              <a:ea typeface="KaiTi"/>
              <a:cs typeface="KaiTi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10306050" y="285750"/>
            <a:ext cx="15240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800" b="1">
                <a:solidFill>
                  <a:srgbClr val="0B3C8C"/>
                </a:solidFill>
                <a:latin typeface="KaiTi"/>
                <a:ea typeface="KaiTi"/>
                <a:cs typeface="KaiTi"/>
              </a:defRPr>
            </a:pPr>
            <a:r>
              <a:rPr sz="1800" b="1">
                <a:solidFill>
                  <a:srgbClr val="0B3C8C"/>
                </a:solidFill>
                <a:latin typeface="KaiTi"/>
                <a:ea typeface="KaiTi"/>
                <a:cs typeface="KaiTi"/>
              </a:rPr>
              <a:t>总结反思</a:t>
            </a:r>
            <a:endParaRPr sz="1800" b="1">
              <a:solidFill>
                <a:srgbClr val="0B3C8C"/>
              </a:solidFill>
              <a:latin typeface="KaiTi"/>
              <a:ea typeface="KaiTi"/>
              <a:cs typeface="KaiTi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762000" y="1352550"/>
            <a:ext cx="7239000" cy="742950"/>
          </a:xfrm>
          <a:prstGeom prst="rect">
            <a:avLst/>
          </a:prstGeom>
          <a:solidFill>
            <a:srgbClr val="F4F8FB"/>
          </a:solidFill>
          <a:ln w="9525">
            <a:solidFill>
              <a:srgbClr val="D2E1F0"/>
            </a:solidFill>
            <a:prstDash val="solid"/>
          </a:ln>
        </p:spPr>
      </p:sp>
      <p:sp>
        <p:nvSpPr>
          <p:cNvPr id="30" name="椭圆 29"/>
          <p:cNvSpPr>
            <a:spLocks noGrp="1"/>
          </p:cNvSpPr>
          <p:nvPr/>
        </p:nvSpPr>
        <p:spPr>
          <a:xfrm>
            <a:off x="895350" y="1524000"/>
            <a:ext cx="381000" cy="381000"/>
          </a:xfrm>
          <a:prstGeom prst="ellipse">
            <a:avLst/>
          </a:prstGeom>
          <a:solidFill>
            <a:srgbClr val="1F5EA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5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  <a:endParaRPr sz="1575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1428750" y="1476375"/>
            <a:ext cx="2190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0B3C8C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0B3C8C"/>
                </a:solidFill>
                <a:latin typeface="微软雅黑"/>
                <a:ea typeface="微软雅黑"/>
                <a:cs typeface="微软雅黑"/>
              </a:rPr>
              <a:t>端到端AI流水线</a:t>
            </a:r>
            <a:endParaRPr sz="1425" b="1">
              <a:solidFill>
                <a:srgbClr val="0B3C8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1428750" y="1762125"/>
            <a:ext cx="63627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B2430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11阶段分步生成，将复杂任务拆成可控子问题。</a:t>
            </a:r>
            <a:endParaRPr sz="1125" b="0">
              <a:solidFill>
                <a:srgbClr val="1B243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762000" y="2419350"/>
            <a:ext cx="7239000" cy="742950"/>
          </a:xfrm>
          <a:prstGeom prst="rect">
            <a:avLst/>
          </a:prstGeom>
          <a:solidFill>
            <a:srgbClr val="FFFFFF"/>
          </a:solidFill>
          <a:ln w="9525">
            <a:solidFill>
              <a:srgbClr val="D2E1F0"/>
            </a:solidFill>
            <a:prstDash val="solid"/>
          </a:ln>
        </p:spPr>
      </p:sp>
      <p:sp>
        <p:nvSpPr>
          <p:cNvPr id="34" name="椭圆 33"/>
          <p:cNvSpPr>
            <a:spLocks noGrp="1"/>
          </p:cNvSpPr>
          <p:nvPr/>
        </p:nvSpPr>
        <p:spPr>
          <a:xfrm>
            <a:off x="895350" y="2590800"/>
            <a:ext cx="381000" cy="381000"/>
          </a:xfrm>
          <a:prstGeom prst="ellipse">
            <a:avLst/>
          </a:prstGeom>
          <a:solidFill>
            <a:srgbClr val="1F5EA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5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  <a:endParaRPr sz="1575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1428750" y="2543175"/>
            <a:ext cx="2190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0B3C8C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0B3C8C"/>
                </a:solidFill>
                <a:latin typeface="微软雅黑"/>
                <a:ea typeface="微软雅黑"/>
                <a:cs typeface="微软雅黑"/>
              </a:rPr>
              <a:t>双模式自适应</a:t>
            </a:r>
            <a:endParaRPr sz="1425" b="1">
              <a:solidFill>
                <a:srgbClr val="0B3C8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1428750" y="2828925"/>
            <a:ext cx="63627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B2430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AI深度生成与本地快速草稿灵活切换。</a:t>
            </a:r>
            <a:endParaRPr sz="1125" b="0">
              <a:solidFill>
                <a:srgbClr val="1B243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762000" y="3486150"/>
            <a:ext cx="7239000" cy="742950"/>
          </a:xfrm>
          <a:prstGeom prst="rect">
            <a:avLst/>
          </a:prstGeom>
          <a:solidFill>
            <a:srgbClr val="F4F8FB"/>
          </a:solidFill>
          <a:ln w="9525">
            <a:solidFill>
              <a:srgbClr val="D2E1F0"/>
            </a:solidFill>
            <a:prstDash val="solid"/>
          </a:ln>
        </p:spPr>
      </p:sp>
      <p:sp>
        <p:nvSpPr>
          <p:cNvPr id="38" name="椭圆 37"/>
          <p:cNvSpPr>
            <a:spLocks noGrp="1"/>
          </p:cNvSpPr>
          <p:nvPr/>
        </p:nvSpPr>
        <p:spPr>
          <a:xfrm>
            <a:off x="895350" y="3657600"/>
            <a:ext cx="381000" cy="381000"/>
          </a:xfrm>
          <a:prstGeom prst="ellipse">
            <a:avLst/>
          </a:prstGeom>
          <a:solidFill>
            <a:srgbClr val="2EAD6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5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  <a:endParaRPr sz="1575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1428750" y="3609975"/>
            <a:ext cx="2190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0B3C8C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0B3C8C"/>
                </a:solidFill>
                <a:latin typeface="微软雅黑"/>
                <a:ea typeface="微软雅黑"/>
                <a:cs typeface="微软雅黑"/>
              </a:rPr>
              <a:t>多层容错架构</a:t>
            </a:r>
            <a:endParaRPr sz="1425" b="1">
              <a:solidFill>
                <a:srgbClr val="0B3C8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1428750" y="3895725"/>
            <a:ext cx="63627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B2430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代码修复、渲染修复、LaTeX降级、AI失败回退。</a:t>
            </a:r>
            <a:endParaRPr sz="1125" b="0">
              <a:solidFill>
                <a:srgbClr val="1B243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4476750" y="4648200"/>
            <a:ext cx="2952750" cy="990600"/>
          </a:xfrm>
          <a:prstGeom prst="rect">
            <a:avLst/>
          </a:prstGeom>
          <a:solidFill>
            <a:srgbClr val="FFFFFF"/>
          </a:solidFill>
          <a:ln w="9525">
            <a:solidFill>
              <a:srgbClr val="D2E1F0"/>
            </a:solidFill>
            <a:prstDash val="solid"/>
          </a:ln>
        </p:spPr>
      </p:sp>
      <p:sp>
        <p:nvSpPr>
          <p:cNvPr id="42" name="椭圆 41"/>
          <p:cNvSpPr>
            <a:spLocks noGrp="1"/>
          </p:cNvSpPr>
          <p:nvPr/>
        </p:nvSpPr>
        <p:spPr>
          <a:xfrm>
            <a:off x="4610100" y="4819650"/>
            <a:ext cx="381000" cy="381000"/>
          </a:xfrm>
          <a:prstGeom prst="ellipse">
            <a:avLst/>
          </a:prstGeom>
          <a:solidFill>
            <a:srgbClr val="1F5EA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5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  <a:endParaRPr sz="1575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3" name="矩形 42"/>
          <p:cNvSpPr>
            <a:spLocks noGrp="1"/>
          </p:cNvSpPr>
          <p:nvPr/>
        </p:nvSpPr>
        <p:spPr>
          <a:xfrm>
            <a:off x="5143500" y="4772025"/>
            <a:ext cx="2190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0B3C8C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0B3C8C"/>
                </a:solidFill>
                <a:latin typeface="微软雅黑"/>
                <a:ea typeface="微软雅黑"/>
                <a:cs typeface="微软雅黑"/>
              </a:rPr>
              <a:t>零部署成本</a:t>
            </a:r>
            <a:endParaRPr sz="1425" b="1">
              <a:solidFill>
                <a:srgbClr val="0B3C8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4" name="矩形 43"/>
          <p:cNvSpPr>
            <a:spLocks noGrp="1"/>
          </p:cNvSpPr>
          <p:nvPr/>
        </p:nvSpPr>
        <p:spPr>
          <a:xfrm>
            <a:off x="5143500" y="5057775"/>
            <a:ext cx="20764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B2430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一键启动，自动环境配置，降低使用门槛。</a:t>
            </a:r>
            <a:endParaRPr sz="1125" b="0">
              <a:solidFill>
                <a:srgbClr val="1B243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5" name="矩形 44"/>
          <p:cNvSpPr>
            <a:spLocks noGrp="1"/>
          </p:cNvSpPr>
          <p:nvPr/>
        </p:nvSpPr>
        <p:spPr>
          <a:xfrm>
            <a:off x="7810500" y="4648200"/>
            <a:ext cx="2952750" cy="990600"/>
          </a:xfrm>
          <a:prstGeom prst="rect">
            <a:avLst/>
          </a:prstGeom>
          <a:solidFill>
            <a:srgbClr val="F4F8FB"/>
          </a:solidFill>
          <a:ln w="9525">
            <a:solidFill>
              <a:srgbClr val="D2E1F0"/>
            </a:solidFill>
            <a:prstDash val="solid"/>
          </a:ln>
        </p:spPr>
      </p:sp>
      <p:sp>
        <p:nvSpPr>
          <p:cNvPr id="46" name="椭圆 45"/>
          <p:cNvSpPr>
            <a:spLocks noGrp="1"/>
          </p:cNvSpPr>
          <p:nvPr/>
        </p:nvSpPr>
        <p:spPr>
          <a:xfrm>
            <a:off x="7943850" y="4819650"/>
            <a:ext cx="381000" cy="381000"/>
          </a:xfrm>
          <a:prstGeom prst="ellipse">
            <a:avLst/>
          </a:prstGeom>
          <a:solidFill>
            <a:srgbClr val="1F5EA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5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  <a:endParaRPr sz="1575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7" name="矩形 46"/>
          <p:cNvSpPr>
            <a:spLocks noGrp="1"/>
          </p:cNvSpPr>
          <p:nvPr/>
        </p:nvSpPr>
        <p:spPr>
          <a:xfrm>
            <a:off x="8477250" y="4772025"/>
            <a:ext cx="2190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0B3C8C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0B3C8C"/>
                </a:solidFill>
                <a:latin typeface="微软雅黑"/>
                <a:ea typeface="微软雅黑"/>
                <a:cs typeface="微软雅黑"/>
              </a:rPr>
              <a:t>开源免费</a:t>
            </a:r>
            <a:endParaRPr sz="1425" b="1">
              <a:solidFill>
                <a:srgbClr val="0B3C8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8" name="矩形 47"/>
          <p:cNvSpPr>
            <a:spLocks noGrp="1"/>
          </p:cNvSpPr>
          <p:nvPr/>
        </p:nvSpPr>
        <p:spPr>
          <a:xfrm>
            <a:off x="8477250" y="5057775"/>
            <a:ext cx="20764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B2430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支持 DeepSeek / Qwen / GLM 等国产大模型。</a:t>
            </a:r>
            <a:endParaRPr sz="1125" b="0">
              <a:solidFill>
                <a:srgbClr val="1B243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9" name="矩形 48"/>
          <p:cNvSpPr>
            <a:spLocks noGrp="1"/>
          </p:cNvSpPr>
          <p:nvPr/>
        </p:nvSpPr>
        <p:spPr>
          <a:xfrm>
            <a:off x="781050" y="4953000"/>
            <a:ext cx="1619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0B3C8C"/>
                </a:solidFill>
                <a:latin typeface="KaiTi"/>
                <a:ea typeface="KaiTi"/>
                <a:cs typeface="KaiTi"/>
              </a:defRPr>
            </a:pPr>
            <a:r>
              <a:rPr sz="1725" b="1">
                <a:solidFill>
                  <a:srgbClr val="0B3C8C"/>
                </a:solidFill>
                <a:latin typeface="KaiTi"/>
                <a:ea typeface="KaiTi"/>
                <a:cs typeface="KaiTi"/>
              </a:rPr>
              <a:t>应用价值</a:t>
            </a:r>
            <a:endParaRPr sz="1725" b="1">
              <a:solidFill>
                <a:srgbClr val="0B3C8C"/>
              </a:solidFill>
              <a:latin typeface="KaiTi"/>
              <a:ea typeface="KaiTi"/>
              <a:cs typeface="KaiTi"/>
            </a:endParaRPr>
          </a:p>
        </p:txBody>
      </p:sp>
      <p:sp>
        <p:nvSpPr>
          <p:cNvPr id="50" name="矩形 49"/>
          <p:cNvSpPr>
            <a:spLocks noGrp="1"/>
          </p:cNvSpPr>
          <p:nvPr/>
        </p:nvSpPr>
        <p:spPr>
          <a:xfrm>
            <a:off x="762000" y="5314950"/>
            <a:ext cx="990600" cy="723900"/>
          </a:xfrm>
          <a:prstGeom prst="rect">
            <a:avLst/>
          </a:prstGeom>
          <a:solidFill>
            <a:srgbClr val="EAF8F2"/>
          </a:solidFill>
          <a:ln w="9525">
            <a:solidFill>
              <a:srgbClr val="B0DABC"/>
            </a:solidFill>
            <a:prstDash val="solid"/>
          </a:ln>
        </p:spPr>
      </p:sp>
      <p:sp>
        <p:nvSpPr>
          <p:cNvPr id="51" name="矩形 50"/>
          <p:cNvSpPr>
            <a:spLocks noGrp="1"/>
          </p:cNvSpPr>
          <p:nvPr/>
        </p:nvSpPr>
        <p:spPr>
          <a:xfrm>
            <a:off x="819150" y="5429250"/>
            <a:ext cx="8763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2EAD6B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2EAD6B"/>
                </a:solidFill>
                <a:latin typeface="微软雅黑"/>
                <a:ea typeface="微软雅黑"/>
                <a:cs typeface="微软雅黑"/>
              </a:rPr>
              <a:t>天级 → 分钟级</a:t>
            </a:r>
            <a:endParaRPr sz="1050" b="1">
              <a:solidFill>
                <a:srgbClr val="2EAD6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2" name="矩形 51"/>
          <p:cNvSpPr>
            <a:spLocks noGrp="1"/>
          </p:cNvSpPr>
          <p:nvPr/>
        </p:nvSpPr>
        <p:spPr>
          <a:xfrm>
            <a:off x="819150" y="5715000"/>
            <a:ext cx="8763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0">
                <a:solidFill>
                  <a:srgbClr val="5F6B7A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5F6B7A"/>
                </a:solidFill>
                <a:latin typeface="微软雅黑"/>
                <a:ea typeface="微软雅黑"/>
                <a:cs typeface="微软雅黑"/>
              </a:rPr>
              <a:t>教师制作教学动画</a:t>
            </a:r>
            <a:endParaRPr sz="900" b="0">
              <a:solidFill>
                <a:srgbClr val="5F6B7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3" name="矩形 52"/>
          <p:cNvSpPr>
            <a:spLocks noGrp="1"/>
          </p:cNvSpPr>
          <p:nvPr/>
        </p:nvSpPr>
        <p:spPr>
          <a:xfrm>
            <a:off x="1905000" y="5314950"/>
            <a:ext cx="990600" cy="723900"/>
          </a:xfrm>
          <a:prstGeom prst="rect">
            <a:avLst/>
          </a:prstGeom>
          <a:solidFill>
            <a:srgbClr val="EAF8F2"/>
          </a:solidFill>
          <a:ln w="9525">
            <a:solidFill>
              <a:srgbClr val="B0DABC"/>
            </a:solidFill>
            <a:prstDash val="solid"/>
          </a:ln>
        </p:spPr>
      </p:sp>
      <p:sp>
        <p:nvSpPr>
          <p:cNvPr id="54" name="矩形 53"/>
          <p:cNvSpPr>
            <a:spLocks noGrp="1"/>
          </p:cNvSpPr>
          <p:nvPr/>
        </p:nvSpPr>
        <p:spPr>
          <a:xfrm>
            <a:off x="1962150" y="5429250"/>
            <a:ext cx="8763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425" b="1">
                <a:solidFill>
                  <a:srgbClr val="2EAD6B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2EAD6B"/>
                </a:solidFill>
                <a:latin typeface="微软雅黑"/>
                <a:ea typeface="微软雅黑"/>
                <a:cs typeface="微软雅黑"/>
              </a:rPr>
              <a:t>零编程</a:t>
            </a:r>
            <a:endParaRPr sz="1425" b="1">
              <a:solidFill>
                <a:srgbClr val="2EAD6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5" name="矩形 54"/>
          <p:cNvSpPr>
            <a:spLocks noGrp="1"/>
          </p:cNvSpPr>
          <p:nvPr/>
        </p:nvSpPr>
        <p:spPr>
          <a:xfrm>
            <a:off x="1962150" y="5715000"/>
            <a:ext cx="8763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0">
                <a:solidFill>
                  <a:srgbClr val="5F6B7A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5F6B7A"/>
                </a:solidFill>
                <a:latin typeface="微软雅黑"/>
                <a:ea typeface="微软雅黑"/>
                <a:cs typeface="微软雅黑"/>
              </a:rPr>
              <a:t>自然语言即可创作</a:t>
            </a:r>
            <a:endParaRPr sz="900" b="0">
              <a:solidFill>
                <a:srgbClr val="5F6B7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6" name="矩形 55"/>
          <p:cNvSpPr>
            <a:spLocks noGrp="1"/>
          </p:cNvSpPr>
          <p:nvPr/>
        </p:nvSpPr>
        <p:spPr>
          <a:xfrm>
            <a:off x="3048000" y="5314950"/>
            <a:ext cx="990600" cy="723900"/>
          </a:xfrm>
          <a:prstGeom prst="rect">
            <a:avLst/>
          </a:prstGeom>
          <a:solidFill>
            <a:srgbClr val="EAF8F2"/>
          </a:solidFill>
          <a:ln w="9525">
            <a:solidFill>
              <a:srgbClr val="B0DABC"/>
            </a:solidFill>
            <a:prstDash val="solid"/>
          </a:ln>
        </p:spPr>
      </p:sp>
      <p:sp>
        <p:nvSpPr>
          <p:cNvPr id="57" name="矩形 56"/>
          <p:cNvSpPr>
            <a:spLocks noGrp="1"/>
          </p:cNvSpPr>
          <p:nvPr/>
        </p:nvSpPr>
        <p:spPr>
          <a:xfrm>
            <a:off x="3105150" y="5429250"/>
            <a:ext cx="8763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425" b="1">
                <a:solidFill>
                  <a:srgbClr val="2EAD6B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2EAD6B"/>
                </a:solidFill>
                <a:latin typeface="微软雅黑"/>
                <a:ea typeface="微软雅黑"/>
                <a:cs typeface="微软雅黑"/>
              </a:rPr>
              <a:t>低门槛</a:t>
            </a:r>
            <a:endParaRPr sz="1425" b="1">
              <a:solidFill>
                <a:srgbClr val="2EAD6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8" name="矩形 57"/>
          <p:cNvSpPr>
            <a:spLocks noGrp="1"/>
          </p:cNvSpPr>
          <p:nvPr/>
        </p:nvSpPr>
        <p:spPr>
          <a:xfrm>
            <a:off x="3105150" y="5715000"/>
            <a:ext cx="8763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0">
                <a:solidFill>
                  <a:srgbClr val="5F6B7A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5F6B7A"/>
                </a:solidFill>
                <a:latin typeface="微软雅黑"/>
                <a:ea typeface="微软雅黑"/>
                <a:cs typeface="微软雅黑"/>
              </a:rPr>
              <a:t>降低数学可视化技术要求</a:t>
            </a:r>
            <a:endParaRPr sz="900" b="0">
              <a:solidFill>
                <a:srgbClr val="5F6B7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1" name="矩形 60"/>
          <p:cNvSpPr>
            <a:spLocks noGrp="1"/>
          </p:cNvSpPr>
          <p:nvPr/>
        </p:nvSpPr>
        <p:spPr>
          <a:xfrm>
            <a:off x="8782050" y="3028950"/>
            <a:ext cx="1714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0">
                <a:solidFill>
                  <a:srgbClr val="5F6B7A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F6B7A"/>
                </a:solidFill>
                <a:latin typeface="微软雅黑"/>
                <a:ea typeface="微软雅黑"/>
                <a:cs typeface="微软雅黑"/>
              </a:rPr>
              <a:t>生成效果片段</a:t>
            </a:r>
            <a:endParaRPr sz="975" b="0">
              <a:solidFill>
                <a:srgbClr val="5F6B7A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2" name="平行线">
            <a:hlinkClick r:id="" action="ppaction://media"/>
          </p:cNvPr>
          <p:cNvPicPr/>
          <p:nvPr>
            <a:vide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8325485" y="1243330"/>
            <a:ext cx="2987040" cy="168973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 fullScrn="0">
              <p:cMediaNode>
                <p:cTn id="2" fill="hold" display="1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3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 additive="base">
                                        <p:cTn id="7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3390900" y="2286000"/>
            <a:ext cx="542925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4350" b="1">
                <a:solidFill>
                  <a:srgbClr val="FFFFFF"/>
                </a:solidFill>
                <a:latin typeface="KaiTi"/>
                <a:ea typeface="KaiTi"/>
                <a:cs typeface="KaiTi"/>
              </a:defRPr>
            </a:pPr>
            <a:r>
              <a:rPr sz="4350" b="1">
                <a:solidFill>
                  <a:srgbClr val="FFFFFF"/>
                </a:solidFill>
                <a:latin typeface="KaiTi"/>
                <a:ea typeface="KaiTi"/>
                <a:cs typeface="KaiTi"/>
              </a:rPr>
              <a:t>感谢观看</a:t>
            </a:r>
            <a:endParaRPr sz="4350" b="1">
              <a:solidFill>
                <a:srgbClr val="FFFFFF"/>
              </a:solidFill>
              <a:latin typeface="KaiTi"/>
              <a:ea typeface="KaiTi"/>
              <a:cs typeface="KaiTi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3143250" y="3162300"/>
            <a:ext cx="5905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725" b="0">
                <a:solidFill>
                  <a:srgbClr val="DDEBFF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DDEBFF"/>
                </a:solidFill>
                <a:latin typeface="微软雅黑"/>
                <a:ea typeface="微软雅黑"/>
                <a:cs typeface="微软雅黑"/>
              </a:rPr>
              <a:t>Math-To-Manim (M2) 教学动画智能生成系统</a:t>
            </a:r>
            <a:endParaRPr sz="1725" b="0">
              <a:solidFill>
                <a:srgbClr val="DDEBFF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MEDIACOVER_FLAG" val="1"/>
  <p:tag name="KSO_WM_UNIT_MEDIACOVER_BTN_STATE" val="1"/>
  <p:tag name="KSO_WM_UNIT_MEDIACOVER_BTNRECT" val="0*0*0*0"/>
</p:tagLst>
</file>

<file path=ppt/tags/tag2.xml><?xml version="1.0" encoding="utf-8"?>
<p:tagLst xmlns:p="http://schemas.openxmlformats.org/presentationml/2006/main">
  <p:tag name="KSO_WM_MEDIACOVER_FLAG" val="1"/>
  <p:tag name="KSO_WM_UNIT_MEDIACOVER_BTN_STATE" val="1"/>
  <p:tag name="KSO_WM_UNIT_MEDIACOVER_BTNRECT" val="0*0*0*0"/>
</p:tagLst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1663</Words>
  <Application>WPS 文字</Application>
  <PresentationFormat>Converted Presentation</PresentationFormat>
  <Paragraphs>390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33" baseType="lpstr">
      <vt:lpstr>Arial</vt:lpstr>
      <vt:lpstr>宋体</vt:lpstr>
      <vt:lpstr>Wingdings</vt:lpstr>
      <vt:lpstr>KaiTi</vt:lpstr>
      <vt:lpstr>汉仪楷体KW</vt:lpstr>
      <vt:lpstr>微软雅黑</vt:lpstr>
      <vt:lpstr>汉仪旗黑</vt:lpstr>
      <vt:lpstr>Calibri</vt:lpstr>
      <vt:lpstr>Helvetica Neue</vt:lpstr>
      <vt:lpstr>微软雅黑</vt:lpstr>
      <vt:lpstr>宋体</vt:lpstr>
      <vt:lpstr>Arial Unicode MS</vt:lpstr>
      <vt:lpstr>Calibri Light</vt:lpstr>
      <vt:lpstr>汉仪书宋二KW</vt:lpstr>
      <vt:lpstr>KaiTi</vt:lpstr>
      <vt:lpstr>微软雅黑</vt:lpstr>
      <vt:lpstr>楷体</vt:lpstr>
      <vt:lpstr>楷体</vt:lpstr>
      <vt:lpstr>方正仿宋_GB18030</vt:lpstr>
      <vt:lpstr>Office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Gakiwu</cp:lastModifiedBy>
  <cp:revision>4</cp:revision>
  <dcterms:created xsi:type="dcterms:W3CDTF">2026-05-20T15:29:19Z</dcterms:created>
  <dcterms:modified xsi:type="dcterms:W3CDTF">2026-05-20T15:29:19Z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2052-12.1.25869.25869</vt:lpwstr>
  </property>
  <property fmtid="{D5CDD505-2E9C-101B-9397-08002B2CF9AE}" pid="3" name="ICV">
    <vt:lpwstr>E4B20CBDD22C79492DD10D6A6679EE51_42</vt:lpwstr>
  </property>
</Properties>
</file>